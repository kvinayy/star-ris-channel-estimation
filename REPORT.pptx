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3637B-6504-4E3B-834D-C40142DD9812}" v="1" dt="2026-01-07T08:11:43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Kusumanchi" userId="28a6c041d361e42c" providerId="LiveId" clId="{90B7095A-9631-4FC9-9217-B3584CC2C6B4}"/>
    <pc:docChg chg="undo redo custSel addSld delSld modSld">
      <pc:chgData name="Vinay Kusumanchi" userId="28a6c041d361e42c" providerId="LiveId" clId="{90B7095A-9631-4FC9-9217-B3584CC2C6B4}" dt="2025-12-17T14:24:12.639" v="1832" actId="20577"/>
      <pc:docMkLst>
        <pc:docMk/>
      </pc:docMkLst>
      <pc:sldChg chg="modSp mod">
        <pc:chgData name="Vinay Kusumanchi" userId="28a6c041d361e42c" providerId="LiveId" clId="{90B7095A-9631-4FC9-9217-B3584CC2C6B4}" dt="2025-12-17T14:24:12.639" v="1832" actId="20577"/>
        <pc:sldMkLst>
          <pc:docMk/>
          <pc:sldMk cId="1858342007" sldId="256"/>
        </pc:sldMkLst>
        <pc:spChg chg="mod">
          <ac:chgData name="Vinay Kusumanchi" userId="28a6c041d361e42c" providerId="LiveId" clId="{90B7095A-9631-4FC9-9217-B3584CC2C6B4}" dt="2025-12-17T14:24:12.639" v="1832" actId="20577"/>
          <ac:spMkLst>
            <pc:docMk/>
            <pc:sldMk cId="1858342007" sldId="256"/>
            <ac:spMk id="3" creationId="{D6445626-1472-474E-6CEC-28AEC90D5C2C}"/>
          </ac:spMkLst>
        </pc:spChg>
      </pc:sldChg>
      <pc:sldChg chg="modSp mod">
        <pc:chgData name="Vinay Kusumanchi" userId="28a6c041d361e42c" providerId="LiveId" clId="{90B7095A-9631-4FC9-9217-B3584CC2C6B4}" dt="2025-12-13T03:56:30.489" v="1570" actId="113"/>
        <pc:sldMkLst>
          <pc:docMk/>
          <pc:sldMk cId="2884169792" sldId="261"/>
        </pc:sldMkLst>
        <pc:spChg chg="mod">
          <ac:chgData name="Vinay Kusumanchi" userId="28a6c041d361e42c" providerId="LiveId" clId="{90B7095A-9631-4FC9-9217-B3584CC2C6B4}" dt="2025-12-13T03:56:30.489" v="1570" actId="113"/>
          <ac:spMkLst>
            <pc:docMk/>
            <pc:sldMk cId="2884169792" sldId="261"/>
            <ac:spMk id="3" creationId="{FC49B66B-0B66-AD8A-DA8D-56FD9F34A312}"/>
          </ac:spMkLst>
        </pc:spChg>
      </pc:sldChg>
      <pc:sldChg chg="addSp delSp modSp new mod">
        <pc:chgData name="Vinay Kusumanchi" userId="28a6c041d361e42c" providerId="LiveId" clId="{90B7095A-9631-4FC9-9217-B3584CC2C6B4}" dt="2025-12-11T08:28:00.905" v="124" actId="27636"/>
        <pc:sldMkLst>
          <pc:docMk/>
          <pc:sldMk cId="1622002096" sldId="262"/>
        </pc:sldMkLst>
        <pc:spChg chg="mod">
          <ac:chgData name="Vinay Kusumanchi" userId="28a6c041d361e42c" providerId="LiveId" clId="{90B7095A-9631-4FC9-9217-B3584CC2C6B4}" dt="2025-12-11T08:22:49.897" v="6" actId="403"/>
          <ac:spMkLst>
            <pc:docMk/>
            <pc:sldMk cId="1622002096" sldId="262"/>
            <ac:spMk id="2" creationId="{16AB8DF7-095F-665E-85A9-1A05E9A839CE}"/>
          </ac:spMkLst>
        </pc:spChg>
        <pc:spChg chg="add del mod">
          <ac:chgData name="Vinay Kusumanchi" userId="28a6c041d361e42c" providerId="LiveId" clId="{90B7095A-9631-4FC9-9217-B3584CC2C6B4}" dt="2025-12-11T08:28:00.905" v="124" actId="27636"/>
          <ac:spMkLst>
            <pc:docMk/>
            <pc:sldMk cId="1622002096" sldId="262"/>
            <ac:spMk id="3" creationId="{66584DF7-0C6F-41CE-46AE-58B3D1E6D519}"/>
          </ac:spMkLst>
        </pc:spChg>
        <pc:picChg chg="add mod modCrop">
          <ac:chgData name="Vinay Kusumanchi" userId="28a6c041d361e42c" providerId="LiveId" clId="{90B7095A-9631-4FC9-9217-B3584CC2C6B4}" dt="2025-12-11T08:25:47.530" v="38" actId="1076"/>
          <ac:picMkLst>
            <pc:docMk/>
            <pc:sldMk cId="1622002096" sldId="262"/>
            <ac:picMk id="6" creationId="{7B8F7127-2CBF-588B-F27A-DE411CEE51EF}"/>
          </ac:picMkLst>
        </pc:picChg>
      </pc:sldChg>
      <pc:sldChg chg="addSp delSp modSp new mod">
        <pc:chgData name="Vinay Kusumanchi" userId="28a6c041d361e42c" providerId="LiveId" clId="{90B7095A-9631-4FC9-9217-B3584CC2C6B4}" dt="2025-12-11T11:52:49.451" v="304" actId="1076"/>
        <pc:sldMkLst>
          <pc:docMk/>
          <pc:sldMk cId="497796354" sldId="263"/>
        </pc:sldMkLst>
        <pc:spChg chg="mod">
          <ac:chgData name="Vinay Kusumanchi" userId="28a6c041d361e42c" providerId="LiveId" clId="{90B7095A-9631-4FC9-9217-B3584CC2C6B4}" dt="2025-12-11T08:30:55.276" v="127" actId="122"/>
          <ac:spMkLst>
            <pc:docMk/>
            <pc:sldMk cId="497796354" sldId="263"/>
            <ac:spMk id="2" creationId="{7F6EDB66-20DF-CA50-DAAA-436198CA9740}"/>
          </ac:spMkLst>
        </pc:spChg>
        <pc:spChg chg="add del mod">
          <ac:chgData name="Vinay Kusumanchi" userId="28a6c041d361e42c" providerId="LiveId" clId="{90B7095A-9631-4FC9-9217-B3584CC2C6B4}" dt="2025-12-11T11:52:16.856" v="300" actId="27636"/>
          <ac:spMkLst>
            <pc:docMk/>
            <pc:sldMk cId="497796354" sldId="263"/>
            <ac:spMk id="3" creationId="{4D01F0D1-3DB5-CD1B-EF76-BFB7B1D497A5}"/>
          </ac:spMkLst>
        </pc:spChg>
        <pc:picChg chg="add mod">
          <ac:chgData name="Vinay Kusumanchi" userId="28a6c041d361e42c" providerId="LiveId" clId="{90B7095A-9631-4FC9-9217-B3584CC2C6B4}" dt="2025-12-11T11:52:26.771" v="301" actId="1076"/>
          <ac:picMkLst>
            <pc:docMk/>
            <pc:sldMk cId="497796354" sldId="263"/>
            <ac:picMk id="6" creationId="{7A7977A6-DE33-8271-C5BB-30444F070D9B}"/>
          </ac:picMkLst>
        </pc:picChg>
        <pc:picChg chg="add mod">
          <ac:chgData name="Vinay Kusumanchi" userId="28a6c041d361e42c" providerId="LiveId" clId="{90B7095A-9631-4FC9-9217-B3584CC2C6B4}" dt="2025-12-11T11:52:34.378" v="302" actId="1076"/>
          <ac:picMkLst>
            <pc:docMk/>
            <pc:sldMk cId="497796354" sldId="263"/>
            <ac:picMk id="8" creationId="{012E72D7-61C8-FB10-3F49-DE043737B792}"/>
          </ac:picMkLst>
        </pc:picChg>
        <pc:picChg chg="add mod">
          <ac:chgData name="Vinay Kusumanchi" userId="28a6c041d361e42c" providerId="LiveId" clId="{90B7095A-9631-4FC9-9217-B3584CC2C6B4}" dt="2025-12-11T11:52:43.176" v="303" actId="1076"/>
          <ac:picMkLst>
            <pc:docMk/>
            <pc:sldMk cId="497796354" sldId="263"/>
            <ac:picMk id="10" creationId="{0670F09C-C1AD-6579-1349-9202B015BB9C}"/>
          </ac:picMkLst>
        </pc:picChg>
        <pc:picChg chg="add mod">
          <ac:chgData name="Vinay Kusumanchi" userId="28a6c041d361e42c" providerId="LiveId" clId="{90B7095A-9631-4FC9-9217-B3584CC2C6B4}" dt="2025-12-11T11:52:49.451" v="304" actId="1076"/>
          <ac:picMkLst>
            <pc:docMk/>
            <pc:sldMk cId="497796354" sldId="263"/>
            <ac:picMk id="12" creationId="{68967D13-B26B-971D-8F9E-93B4A8C7D60C}"/>
          </ac:picMkLst>
        </pc:picChg>
      </pc:sldChg>
      <pc:sldChg chg="addSp delSp modSp new mod">
        <pc:chgData name="Vinay Kusumanchi" userId="28a6c041d361e42c" providerId="LiveId" clId="{90B7095A-9631-4FC9-9217-B3584CC2C6B4}" dt="2025-12-11T13:22:34.417" v="408" actId="1076"/>
        <pc:sldMkLst>
          <pc:docMk/>
          <pc:sldMk cId="2657847184" sldId="264"/>
        </pc:sldMkLst>
        <pc:spChg chg="mod">
          <ac:chgData name="Vinay Kusumanchi" userId="28a6c041d361e42c" providerId="LiveId" clId="{90B7095A-9631-4FC9-9217-B3584CC2C6B4}" dt="2025-12-11T11:53:20.160" v="307" actId="122"/>
          <ac:spMkLst>
            <pc:docMk/>
            <pc:sldMk cId="2657847184" sldId="264"/>
            <ac:spMk id="2" creationId="{8A17CE6C-455C-DBF5-907D-376C92DCCBB9}"/>
          </ac:spMkLst>
        </pc:spChg>
        <pc:spChg chg="add del mod">
          <ac:chgData name="Vinay Kusumanchi" userId="28a6c041d361e42c" providerId="LiveId" clId="{90B7095A-9631-4FC9-9217-B3584CC2C6B4}" dt="2025-12-11T13:22:10.134" v="404" actId="113"/>
          <ac:spMkLst>
            <pc:docMk/>
            <pc:sldMk cId="2657847184" sldId="264"/>
            <ac:spMk id="3" creationId="{0AE5EF64-8180-C49E-8154-95549F3D7110}"/>
          </ac:spMkLst>
        </pc:spChg>
        <pc:picChg chg="add mod">
          <ac:chgData name="Vinay Kusumanchi" userId="28a6c041d361e42c" providerId="LiveId" clId="{90B7095A-9631-4FC9-9217-B3584CC2C6B4}" dt="2025-12-11T13:22:18.328" v="405" actId="1076"/>
          <ac:picMkLst>
            <pc:docMk/>
            <pc:sldMk cId="2657847184" sldId="264"/>
            <ac:picMk id="6" creationId="{2B1B3B3C-B08A-FF08-02E9-95D105B758BF}"/>
          </ac:picMkLst>
        </pc:picChg>
        <pc:picChg chg="add mod">
          <ac:chgData name="Vinay Kusumanchi" userId="28a6c041d361e42c" providerId="LiveId" clId="{90B7095A-9631-4FC9-9217-B3584CC2C6B4}" dt="2025-12-11T13:22:34.417" v="408" actId="1076"/>
          <ac:picMkLst>
            <pc:docMk/>
            <pc:sldMk cId="2657847184" sldId="264"/>
            <ac:picMk id="8" creationId="{75316A5A-C7B7-366B-FFB9-DFAB6654BFD1}"/>
          </ac:picMkLst>
        </pc:picChg>
        <pc:picChg chg="add mod modCrop">
          <ac:chgData name="Vinay Kusumanchi" userId="28a6c041d361e42c" providerId="LiveId" clId="{90B7095A-9631-4FC9-9217-B3584CC2C6B4}" dt="2025-12-11T13:18:53.937" v="372" actId="1076"/>
          <ac:picMkLst>
            <pc:docMk/>
            <pc:sldMk cId="2657847184" sldId="264"/>
            <ac:picMk id="10" creationId="{E9DBB42B-A0C8-EAB8-F659-B07EE3802D3F}"/>
          </ac:picMkLst>
        </pc:picChg>
      </pc:sldChg>
      <pc:sldChg chg="addSp delSp modSp new mod">
        <pc:chgData name="Vinay Kusumanchi" userId="28a6c041d361e42c" providerId="LiveId" clId="{90B7095A-9631-4FC9-9217-B3584CC2C6B4}" dt="2025-12-11T17:18:35.100" v="576" actId="20577"/>
        <pc:sldMkLst>
          <pc:docMk/>
          <pc:sldMk cId="2860838040" sldId="265"/>
        </pc:sldMkLst>
        <pc:spChg chg="mod">
          <ac:chgData name="Vinay Kusumanchi" userId="28a6c041d361e42c" providerId="LiveId" clId="{90B7095A-9631-4FC9-9217-B3584CC2C6B4}" dt="2025-12-11T16:37:02.849" v="414" actId="404"/>
          <ac:spMkLst>
            <pc:docMk/>
            <pc:sldMk cId="2860838040" sldId="265"/>
            <ac:spMk id="2" creationId="{78F6699B-B538-A0E8-1A11-38B80F3FF20F}"/>
          </ac:spMkLst>
        </pc:spChg>
        <pc:spChg chg="add del mod">
          <ac:chgData name="Vinay Kusumanchi" userId="28a6c041d361e42c" providerId="LiveId" clId="{90B7095A-9631-4FC9-9217-B3584CC2C6B4}" dt="2025-12-11T17:18:35.100" v="576" actId="20577"/>
          <ac:spMkLst>
            <pc:docMk/>
            <pc:sldMk cId="2860838040" sldId="265"/>
            <ac:spMk id="3" creationId="{01A2EC0E-0053-1925-AA5F-F0099F3089AC}"/>
          </ac:spMkLst>
        </pc:spChg>
        <pc:picChg chg="add mod">
          <ac:chgData name="Vinay Kusumanchi" userId="28a6c041d361e42c" providerId="LiveId" clId="{90B7095A-9631-4FC9-9217-B3584CC2C6B4}" dt="2025-12-11T17:09:31.825" v="442" actId="1076"/>
          <ac:picMkLst>
            <pc:docMk/>
            <pc:sldMk cId="2860838040" sldId="265"/>
            <ac:picMk id="6" creationId="{5BC54CBF-8703-3E0D-FB0E-27456C29FA1B}"/>
          </ac:picMkLst>
        </pc:picChg>
      </pc:sldChg>
      <pc:sldChg chg="addSp delSp modSp new mod">
        <pc:chgData name="Vinay Kusumanchi" userId="28a6c041d361e42c" providerId="LiveId" clId="{90B7095A-9631-4FC9-9217-B3584CC2C6B4}" dt="2025-12-11T17:49:15.972" v="686" actId="20577"/>
        <pc:sldMkLst>
          <pc:docMk/>
          <pc:sldMk cId="4272729381" sldId="266"/>
        </pc:sldMkLst>
        <pc:spChg chg="mod">
          <ac:chgData name="Vinay Kusumanchi" userId="28a6c041d361e42c" providerId="LiveId" clId="{90B7095A-9631-4FC9-9217-B3584CC2C6B4}" dt="2025-12-11T17:30:26.381" v="579" actId="122"/>
          <ac:spMkLst>
            <pc:docMk/>
            <pc:sldMk cId="4272729381" sldId="266"/>
            <ac:spMk id="2" creationId="{46AD0162-91BC-A6A0-CD58-089EA5019A12}"/>
          </ac:spMkLst>
        </pc:spChg>
        <pc:spChg chg="add del mod">
          <ac:chgData name="Vinay Kusumanchi" userId="28a6c041d361e42c" providerId="LiveId" clId="{90B7095A-9631-4FC9-9217-B3584CC2C6B4}" dt="2025-12-11T17:49:15.972" v="686" actId="20577"/>
          <ac:spMkLst>
            <pc:docMk/>
            <pc:sldMk cId="4272729381" sldId="266"/>
            <ac:spMk id="3" creationId="{7A0EAF46-2BBE-FFBD-F097-BA89EEB70D1E}"/>
          </ac:spMkLst>
        </pc:spChg>
        <pc:picChg chg="add mod">
          <ac:chgData name="Vinay Kusumanchi" userId="28a6c041d361e42c" providerId="LiveId" clId="{90B7095A-9631-4FC9-9217-B3584CC2C6B4}" dt="2025-12-11T17:48:50.516" v="685" actId="1076"/>
          <ac:picMkLst>
            <pc:docMk/>
            <pc:sldMk cId="4272729381" sldId="266"/>
            <ac:picMk id="5" creationId="{703D7775-3F54-85E2-16F4-B62548848B18}"/>
          </ac:picMkLst>
        </pc:picChg>
      </pc:sldChg>
      <pc:sldChg chg="addSp modSp new mod">
        <pc:chgData name="Vinay Kusumanchi" userId="28a6c041d361e42c" providerId="LiveId" clId="{90B7095A-9631-4FC9-9217-B3584CC2C6B4}" dt="2025-12-12T01:57:00.419" v="1041" actId="1076"/>
        <pc:sldMkLst>
          <pc:docMk/>
          <pc:sldMk cId="859526197" sldId="268"/>
        </pc:sldMkLst>
        <pc:spChg chg="mod">
          <ac:chgData name="Vinay Kusumanchi" userId="28a6c041d361e42c" providerId="LiveId" clId="{90B7095A-9631-4FC9-9217-B3584CC2C6B4}" dt="2025-12-12T01:31:16.552" v="1025" actId="122"/>
          <ac:spMkLst>
            <pc:docMk/>
            <pc:sldMk cId="859526197" sldId="268"/>
            <ac:spMk id="2" creationId="{A20CC75F-833E-1F6B-531D-6340333D0CEB}"/>
          </ac:spMkLst>
        </pc:spChg>
        <pc:picChg chg="add mod">
          <ac:chgData name="Vinay Kusumanchi" userId="28a6c041d361e42c" providerId="LiveId" clId="{90B7095A-9631-4FC9-9217-B3584CC2C6B4}" dt="2025-12-12T01:31:38.029" v="1029" actId="1076"/>
          <ac:picMkLst>
            <pc:docMk/>
            <pc:sldMk cId="859526197" sldId="268"/>
            <ac:picMk id="3" creationId="{2F98916D-2E3C-C119-736F-A35701013244}"/>
          </ac:picMkLst>
        </pc:picChg>
        <pc:picChg chg="add mod">
          <ac:chgData name="Vinay Kusumanchi" userId="28a6c041d361e42c" providerId="LiveId" clId="{90B7095A-9631-4FC9-9217-B3584CC2C6B4}" dt="2025-12-12T01:31:57.922" v="1031" actId="1076"/>
          <ac:picMkLst>
            <pc:docMk/>
            <pc:sldMk cId="859526197" sldId="268"/>
            <ac:picMk id="4" creationId="{91F1956C-C09B-FBED-CF7B-E6F646DD0FBC}"/>
          </ac:picMkLst>
        </pc:picChg>
        <pc:picChg chg="add mod">
          <ac:chgData name="Vinay Kusumanchi" userId="28a6c041d361e42c" providerId="LiveId" clId="{90B7095A-9631-4FC9-9217-B3584CC2C6B4}" dt="2025-12-12T01:57:00.419" v="1041" actId="1076"/>
          <ac:picMkLst>
            <pc:docMk/>
            <pc:sldMk cId="859526197" sldId="268"/>
            <ac:picMk id="6" creationId="{CB1098AF-47B2-B5F8-8271-E43F9E3B1403}"/>
          </ac:picMkLst>
        </pc:picChg>
      </pc:sldChg>
      <pc:sldChg chg="addSp modSp new mod">
        <pc:chgData name="Vinay Kusumanchi" userId="28a6c041d361e42c" providerId="LiveId" clId="{90B7095A-9631-4FC9-9217-B3584CC2C6B4}" dt="2025-12-12T05:37:59.285" v="1147" actId="20577"/>
        <pc:sldMkLst>
          <pc:docMk/>
          <pc:sldMk cId="2082762795" sldId="269"/>
        </pc:sldMkLst>
        <pc:spChg chg="mod">
          <ac:chgData name="Vinay Kusumanchi" userId="28a6c041d361e42c" providerId="LiveId" clId="{90B7095A-9631-4FC9-9217-B3584CC2C6B4}" dt="2025-12-12T02:36:02.803" v="1043" actId="122"/>
          <ac:spMkLst>
            <pc:docMk/>
            <pc:sldMk cId="2082762795" sldId="269"/>
            <ac:spMk id="2" creationId="{7DDB19E6-331F-076E-754E-84FF1E13DC6B}"/>
          </ac:spMkLst>
        </pc:spChg>
        <pc:spChg chg="mod">
          <ac:chgData name="Vinay Kusumanchi" userId="28a6c041d361e42c" providerId="LiveId" clId="{90B7095A-9631-4FC9-9217-B3584CC2C6B4}" dt="2025-12-12T05:37:59.285" v="1147" actId="20577"/>
          <ac:spMkLst>
            <pc:docMk/>
            <pc:sldMk cId="2082762795" sldId="269"/>
            <ac:spMk id="3" creationId="{10FECF32-A65E-6CDA-B8CE-92F3CFF2A12D}"/>
          </ac:spMkLst>
        </pc:spChg>
        <pc:picChg chg="add mod">
          <ac:chgData name="Vinay Kusumanchi" userId="28a6c041d361e42c" providerId="LiveId" clId="{90B7095A-9631-4FC9-9217-B3584CC2C6B4}" dt="2025-12-12T05:37:23.296" v="1132" actId="1076"/>
          <ac:picMkLst>
            <pc:docMk/>
            <pc:sldMk cId="2082762795" sldId="269"/>
            <ac:picMk id="5" creationId="{279D9A4B-3F0D-169C-C56C-0B7461F980C8}"/>
          </ac:picMkLst>
        </pc:picChg>
        <pc:picChg chg="add mod">
          <ac:chgData name="Vinay Kusumanchi" userId="28a6c041d361e42c" providerId="LiveId" clId="{90B7095A-9631-4FC9-9217-B3584CC2C6B4}" dt="2025-12-12T05:37:33.301" v="1133" actId="1076"/>
          <ac:picMkLst>
            <pc:docMk/>
            <pc:sldMk cId="2082762795" sldId="269"/>
            <ac:picMk id="7" creationId="{4090D3E6-B704-F23F-3269-F2A6E264D367}"/>
          </ac:picMkLst>
        </pc:picChg>
        <pc:picChg chg="add mod">
          <ac:chgData name="Vinay Kusumanchi" userId="28a6c041d361e42c" providerId="LiveId" clId="{90B7095A-9631-4FC9-9217-B3584CC2C6B4}" dt="2025-12-12T05:37:52.462" v="1135" actId="1076"/>
          <ac:picMkLst>
            <pc:docMk/>
            <pc:sldMk cId="2082762795" sldId="269"/>
            <ac:picMk id="9" creationId="{BCDC59C5-5673-A8FF-F503-802FDE3C2C71}"/>
          </ac:picMkLst>
        </pc:picChg>
      </pc:sldChg>
      <pc:sldChg chg="modSp new mod">
        <pc:chgData name="Vinay Kusumanchi" userId="28a6c041d361e42c" providerId="LiveId" clId="{90B7095A-9631-4FC9-9217-B3584CC2C6B4}" dt="2025-12-12T14:46:17.568" v="1213" actId="27636"/>
        <pc:sldMkLst>
          <pc:docMk/>
          <pc:sldMk cId="340004822" sldId="270"/>
        </pc:sldMkLst>
        <pc:spChg chg="mod">
          <ac:chgData name="Vinay Kusumanchi" userId="28a6c041d361e42c" providerId="LiveId" clId="{90B7095A-9631-4FC9-9217-B3584CC2C6B4}" dt="2025-12-12T08:13:43.053" v="1150" actId="122"/>
          <ac:spMkLst>
            <pc:docMk/>
            <pc:sldMk cId="340004822" sldId="270"/>
            <ac:spMk id="2" creationId="{3043692B-70B0-2F7E-979B-A6854EF5295F}"/>
          </ac:spMkLst>
        </pc:spChg>
        <pc:spChg chg="mod">
          <ac:chgData name="Vinay Kusumanchi" userId="28a6c041d361e42c" providerId="LiveId" clId="{90B7095A-9631-4FC9-9217-B3584CC2C6B4}" dt="2025-12-12T14:46:17.568" v="1213" actId="27636"/>
          <ac:spMkLst>
            <pc:docMk/>
            <pc:sldMk cId="340004822" sldId="270"/>
            <ac:spMk id="3" creationId="{4167CF48-3D5E-254A-09F9-9BA75D6EE1FA}"/>
          </ac:spMkLst>
        </pc:spChg>
      </pc:sldChg>
      <pc:sldChg chg="addSp delSp modSp new mod">
        <pc:chgData name="Vinay Kusumanchi" userId="28a6c041d361e42c" providerId="LiveId" clId="{90B7095A-9631-4FC9-9217-B3584CC2C6B4}" dt="2025-12-12T14:53:31.493" v="1282" actId="1076"/>
        <pc:sldMkLst>
          <pc:docMk/>
          <pc:sldMk cId="2373541011" sldId="271"/>
        </pc:sldMkLst>
        <pc:spChg chg="mod">
          <ac:chgData name="Vinay Kusumanchi" userId="28a6c041d361e42c" providerId="LiveId" clId="{90B7095A-9631-4FC9-9217-B3584CC2C6B4}" dt="2025-12-12T14:47:12.661" v="1233" actId="255"/>
          <ac:spMkLst>
            <pc:docMk/>
            <pc:sldMk cId="2373541011" sldId="271"/>
            <ac:spMk id="2" creationId="{20B77C61-BEBF-25B2-B8D2-307971F2D27F}"/>
          </ac:spMkLst>
        </pc:spChg>
        <pc:spChg chg="add mod">
          <ac:chgData name="Vinay Kusumanchi" userId="28a6c041d361e42c" providerId="LiveId" clId="{90B7095A-9631-4FC9-9217-B3584CC2C6B4}" dt="2025-12-12T14:53:31.493" v="1282" actId="1076"/>
          <ac:spMkLst>
            <pc:docMk/>
            <pc:sldMk cId="2373541011" sldId="271"/>
            <ac:spMk id="6" creationId="{50E56F42-5741-D717-6B7C-158678834495}"/>
          </ac:spMkLst>
        </pc:spChg>
        <pc:picChg chg="add mod ord">
          <ac:chgData name="Vinay Kusumanchi" userId="28a6c041d361e42c" providerId="LiveId" clId="{90B7095A-9631-4FC9-9217-B3584CC2C6B4}" dt="2025-12-12T14:51:41.886" v="1272" actId="1076"/>
          <ac:picMkLst>
            <pc:docMk/>
            <pc:sldMk cId="2373541011" sldId="271"/>
            <ac:picMk id="5" creationId="{5F267E02-74E4-1A7A-6F38-568E9D341F81}"/>
          </ac:picMkLst>
        </pc:picChg>
      </pc:sldChg>
      <pc:sldChg chg="addSp delSp modSp new mod">
        <pc:chgData name="Vinay Kusumanchi" userId="28a6c041d361e42c" providerId="LiveId" clId="{90B7095A-9631-4FC9-9217-B3584CC2C6B4}" dt="2025-12-12T15:59:02.301" v="1337" actId="27636"/>
        <pc:sldMkLst>
          <pc:docMk/>
          <pc:sldMk cId="3894323026" sldId="272"/>
        </pc:sldMkLst>
        <pc:spChg chg="mod">
          <ac:chgData name="Vinay Kusumanchi" userId="28a6c041d361e42c" providerId="LiveId" clId="{90B7095A-9631-4FC9-9217-B3584CC2C6B4}" dt="2025-12-12T15:04:27.447" v="1296" actId="20577"/>
          <ac:spMkLst>
            <pc:docMk/>
            <pc:sldMk cId="3894323026" sldId="272"/>
            <ac:spMk id="2" creationId="{D91EE4BD-E11C-C67C-A1C1-6109F8BBA41C}"/>
          </ac:spMkLst>
        </pc:spChg>
        <pc:spChg chg="add del mod">
          <ac:chgData name="Vinay Kusumanchi" userId="28a6c041d361e42c" providerId="LiveId" clId="{90B7095A-9631-4FC9-9217-B3584CC2C6B4}" dt="2025-12-12T15:59:02.301" v="1337" actId="27636"/>
          <ac:spMkLst>
            <pc:docMk/>
            <pc:sldMk cId="3894323026" sldId="272"/>
            <ac:spMk id="3" creationId="{B860BED1-08EA-673C-9999-F07E5927F6F6}"/>
          </ac:spMkLst>
        </pc:spChg>
      </pc:sldChg>
      <pc:sldChg chg="addSp delSp modSp new mod">
        <pc:chgData name="Vinay Kusumanchi" userId="28a6c041d361e42c" providerId="LiveId" clId="{90B7095A-9631-4FC9-9217-B3584CC2C6B4}" dt="2025-12-13T04:07:12.967" v="1654" actId="27636"/>
        <pc:sldMkLst>
          <pc:docMk/>
          <pc:sldMk cId="1181765182" sldId="273"/>
        </pc:sldMkLst>
        <pc:spChg chg="mod">
          <ac:chgData name="Vinay Kusumanchi" userId="28a6c041d361e42c" providerId="LiveId" clId="{90B7095A-9631-4FC9-9217-B3584CC2C6B4}" dt="2025-12-12T15:59:29.994" v="1343" actId="403"/>
          <ac:spMkLst>
            <pc:docMk/>
            <pc:sldMk cId="1181765182" sldId="273"/>
            <ac:spMk id="2" creationId="{8F0654E6-8C68-9722-DECF-3D4A427C075F}"/>
          </ac:spMkLst>
        </pc:spChg>
        <pc:spChg chg="add del mod">
          <ac:chgData name="Vinay Kusumanchi" userId="28a6c041d361e42c" providerId="LiveId" clId="{90B7095A-9631-4FC9-9217-B3584CC2C6B4}" dt="2025-12-13T04:07:12.967" v="1654" actId="27636"/>
          <ac:spMkLst>
            <pc:docMk/>
            <pc:sldMk cId="1181765182" sldId="273"/>
            <ac:spMk id="3" creationId="{3134A365-55D3-4691-4967-723985973F30}"/>
          </ac:spMkLst>
        </pc:spChg>
      </pc:sldChg>
      <pc:sldChg chg="addSp delSp modSp new mod">
        <pc:chgData name="Vinay Kusumanchi" userId="28a6c041d361e42c" providerId="LiveId" clId="{90B7095A-9631-4FC9-9217-B3584CC2C6B4}" dt="2025-12-13T03:59:57.969" v="1608" actId="20577"/>
        <pc:sldMkLst>
          <pc:docMk/>
          <pc:sldMk cId="1428931857" sldId="274"/>
        </pc:sldMkLst>
        <pc:spChg chg="mod">
          <ac:chgData name="Vinay Kusumanchi" userId="28a6c041d361e42c" providerId="LiveId" clId="{90B7095A-9631-4FC9-9217-B3584CC2C6B4}" dt="2025-12-12T16:13:28.878" v="1375" actId="122"/>
          <ac:spMkLst>
            <pc:docMk/>
            <pc:sldMk cId="1428931857" sldId="274"/>
            <ac:spMk id="2" creationId="{A10AC7F0-1976-0A1A-349E-31BE5E312E63}"/>
          </ac:spMkLst>
        </pc:spChg>
        <pc:spChg chg="add del mod">
          <ac:chgData name="Vinay Kusumanchi" userId="28a6c041d361e42c" providerId="LiveId" clId="{90B7095A-9631-4FC9-9217-B3584CC2C6B4}" dt="2025-12-13T03:59:57.969" v="1608" actId="20577"/>
          <ac:spMkLst>
            <pc:docMk/>
            <pc:sldMk cId="1428931857" sldId="274"/>
            <ac:spMk id="3" creationId="{3BE8C342-8926-B865-8AEC-AEBA4CA7E598}"/>
          </ac:spMkLst>
        </pc:spChg>
        <pc:picChg chg="add mod">
          <ac:chgData name="Vinay Kusumanchi" userId="28a6c041d361e42c" providerId="LiveId" clId="{90B7095A-9631-4FC9-9217-B3584CC2C6B4}" dt="2025-12-12T16:15:40.370" v="1404" actId="1076"/>
          <ac:picMkLst>
            <pc:docMk/>
            <pc:sldMk cId="1428931857" sldId="274"/>
            <ac:picMk id="6" creationId="{3955C07B-3828-05D8-3652-C26B78BD7F5B}"/>
          </ac:picMkLst>
        </pc:picChg>
      </pc:sldChg>
      <pc:sldChg chg="addSp delSp modSp new mod">
        <pc:chgData name="Vinay Kusumanchi" userId="28a6c041d361e42c" providerId="LiveId" clId="{90B7095A-9631-4FC9-9217-B3584CC2C6B4}" dt="2025-12-13T03:59:14.819" v="1590" actId="27636"/>
        <pc:sldMkLst>
          <pc:docMk/>
          <pc:sldMk cId="2547143542" sldId="275"/>
        </pc:sldMkLst>
        <pc:spChg chg="mod">
          <ac:chgData name="Vinay Kusumanchi" userId="28a6c041d361e42c" providerId="LiveId" clId="{90B7095A-9631-4FC9-9217-B3584CC2C6B4}" dt="2025-12-12T16:16:09.935" v="1410" actId="122"/>
          <ac:spMkLst>
            <pc:docMk/>
            <pc:sldMk cId="2547143542" sldId="275"/>
            <ac:spMk id="2" creationId="{4EDECB4A-F4E1-71BD-923D-36FD8660C3F4}"/>
          </ac:spMkLst>
        </pc:spChg>
        <pc:spChg chg="add del mod">
          <ac:chgData name="Vinay Kusumanchi" userId="28a6c041d361e42c" providerId="LiveId" clId="{90B7095A-9631-4FC9-9217-B3584CC2C6B4}" dt="2025-12-13T03:59:14.819" v="1590" actId="27636"/>
          <ac:spMkLst>
            <pc:docMk/>
            <pc:sldMk cId="2547143542" sldId="275"/>
            <ac:spMk id="3" creationId="{71BCB67E-9BD4-8B20-B063-A9FAF1010C45}"/>
          </ac:spMkLst>
        </pc:spChg>
      </pc:sldChg>
      <pc:sldChg chg="addSp modSp new mod">
        <pc:chgData name="Vinay Kusumanchi" userId="28a6c041d361e42c" providerId="LiveId" clId="{90B7095A-9631-4FC9-9217-B3584CC2C6B4}" dt="2025-12-12T16:55:44.099" v="1521" actId="14100"/>
        <pc:sldMkLst>
          <pc:docMk/>
          <pc:sldMk cId="1689734684" sldId="276"/>
        </pc:sldMkLst>
        <pc:spChg chg="mod">
          <ac:chgData name="Vinay Kusumanchi" userId="28a6c041d361e42c" providerId="LiveId" clId="{90B7095A-9631-4FC9-9217-B3584CC2C6B4}" dt="2025-12-12T16:49:21.819" v="1474" actId="122"/>
          <ac:spMkLst>
            <pc:docMk/>
            <pc:sldMk cId="1689734684" sldId="276"/>
            <ac:spMk id="2" creationId="{E5C4F07E-AEEA-5995-9EFC-1222F50392FB}"/>
          </ac:spMkLst>
        </pc:spChg>
        <pc:spChg chg="mod">
          <ac:chgData name="Vinay Kusumanchi" userId="28a6c041d361e42c" providerId="LiveId" clId="{90B7095A-9631-4FC9-9217-B3584CC2C6B4}" dt="2025-12-12T16:55:44.099" v="1521" actId="14100"/>
          <ac:spMkLst>
            <pc:docMk/>
            <pc:sldMk cId="1689734684" sldId="276"/>
            <ac:spMk id="3" creationId="{0F264C59-8D3B-4C65-BF35-5310B875E7E7}"/>
          </ac:spMkLst>
        </pc:spChg>
        <pc:picChg chg="add mod">
          <ac:chgData name="Vinay Kusumanchi" userId="28a6c041d361e42c" providerId="LiveId" clId="{90B7095A-9631-4FC9-9217-B3584CC2C6B4}" dt="2025-12-12T16:52:44.419" v="1493" actId="1076"/>
          <ac:picMkLst>
            <pc:docMk/>
            <pc:sldMk cId="1689734684" sldId="276"/>
            <ac:picMk id="5" creationId="{D6697814-8787-1163-6E8E-345EEE63173D}"/>
          </ac:picMkLst>
        </pc:picChg>
      </pc:sldChg>
      <pc:sldChg chg="modSp new mod">
        <pc:chgData name="Vinay Kusumanchi" userId="28a6c041d361e42c" providerId="LiveId" clId="{90B7095A-9631-4FC9-9217-B3584CC2C6B4}" dt="2025-12-12T17:54:15.726" v="1551" actId="27636"/>
        <pc:sldMkLst>
          <pc:docMk/>
          <pc:sldMk cId="3484257973" sldId="277"/>
        </pc:sldMkLst>
        <pc:spChg chg="mod">
          <ac:chgData name="Vinay Kusumanchi" userId="28a6c041d361e42c" providerId="LiveId" clId="{90B7095A-9631-4FC9-9217-B3584CC2C6B4}" dt="2025-12-12T17:52:32.822" v="1524" actId="122"/>
          <ac:spMkLst>
            <pc:docMk/>
            <pc:sldMk cId="3484257973" sldId="277"/>
            <ac:spMk id="2" creationId="{3EB790C8-C3BC-CE0D-4DAA-760F2D7CC599}"/>
          </ac:spMkLst>
        </pc:spChg>
        <pc:spChg chg="mod">
          <ac:chgData name="Vinay Kusumanchi" userId="28a6c041d361e42c" providerId="LiveId" clId="{90B7095A-9631-4FC9-9217-B3584CC2C6B4}" dt="2025-12-12T17:54:15.726" v="1551" actId="27636"/>
          <ac:spMkLst>
            <pc:docMk/>
            <pc:sldMk cId="3484257973" sldId="277"/>
            <ac:spMk id="3" creationId="{CB781BFA-A347-9B91-9405-2489651003F5}"/>
          </ac:spMkLst>
        </pc:spChg>
      </pc:sldChg>
      <pc:sldChg chg="addSp delSp modSp new mod">
        <pc:chgData name="Vinay Kusumanchi" userId="28a6c041d361e42c" providerId="LiveId" clId="{90B7095A-9631-4FC9-9217-B3584CC2C6B4}" dt="2025-12-14T17:18:24.419" v="1829" actId="27636"/>
        <pc:sldMkLst>
          <pc:docMk/>
          <pc:sldMk cId="2647550150" sldId="279"/>
        </pc:sldMkLst>
        <pc:spChg chg="mod">
          <ac:chgData name="Vinay Kusumanchi" userId="28a6c041d361e42c" providerId="LiveId" clId="{90B7095A-9631-4FC9-9217-B3584CC2C6B4}" dt="2025-12-14T17:08:35.680" v="1749" actId="122"/>
          <ac:spMkLst>
            <pc:docMk/>
            <pc:sldMk cId="2647550150" sldId="279"/>
            <ac:spMk id="2" creationId="{D82A904B-07A7-9133-E579-B366CE156D03}"/>
          </ac:spMkLst>
        </pc:spChg>
        <pc:spChg chg="add del mod">
          <ac:chgData name="Vinay Kusumanchi" userId="28a6c041d361e42c" providerId="LiveId" clId="{90B7095A-9631-4FC9-9217-B3584CC2C6B4}" dt="2025-12-14T17:18:24.419" v="1829" actId="27636"/>
          <ac:spMkLst>
            <pc:docMk/>
            <pc:sldMk cId="2647550150" sldId="279"/>
            <ac:spMk id="3" creationId="{D31E327F-F211-BDB7-9B04-CB2589034B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B7811-8809-4F9A-A3AC-6C8699CC6D3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81975-950C-4993-A03B-D44C881C3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569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BS beamforming matrix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n-US" dirty="0"/>
                  <a:t>controls how the base station weights and combines its antennas to transmit data streams toward users, and it is optimized jointly with STAR-RIS coefficients to maximize the system sum-rate.</a:t>
                </a:r>
                <a:endParaRPr lang="en-IN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BS beamforming matrix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en-US" dirty="0"/>
                  <a:t>controls how the base station weights and combines its antennas to transmit data streams toward users, and it is optimized jointly with STAR-RIS coefficients to maximize the system sum-rate.</a:t>
                </a: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81975-950C-4993-A03B-D44C881C3C6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37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6393-3570-FC0E-9156-F5854147E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F3898-F795-4AA2-B042-061BC2425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24012-8354-2FE3-86A7-B7A4B84C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2E71B-E765-FE1A-DFB8-2C2E0128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907FB-FB2E-3730-12BF-661FE709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1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B38C-8F5D-E713-49F5-0985E803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1CCB6-C244-5E85-9536-A5FD6328C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E2470-FA40-7A9E-D0B0-D5D51423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B831-E8CB-8C0A-B357-B3955E56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848D4-E801-4CFE-F881-BAB5321F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10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57E7-52A1-76E4-8993-E856761D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54F5E-3571-1FCA-774D-89C77FD11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D8A96-2B07-E9BA-CC10-8F603E68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D0C0F-7AF6-12FD-B8CA-E8932D4B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69CBF-6F48-576D-D813-B19367AE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27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A1CC-45F3-1B3A-CCCF-DF22A31D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DD77-CE2B-17F7-36F2-74F8FA0FC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5D77C-2286-8058-396B-7EF6BFE83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BC773-240D-0E04-1AD4-72AD1884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87C37-8B1C-13CD-A7B5-8710742D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2D713-7198-D86A-AADD-E717A823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3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12B3-F856-9170-916B-9428F09C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BA531-B465-10B2-A679-94A4700D5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02E69-FE04-4B79-12A7-54BF367AB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74A70-B0F7-847B-3751-0914AFDB7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D6AD5-1286-F800-418F-7110AA9B7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2C3F8-8549-FDC7-D41F-9C34CF854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08F24-34C1-88F8-71D7-FE11AB2C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424E9-4477-8802-0175-4D51391C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83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FEB5-798C-2414-F2C2-DE04A27A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0F649-BA19-B00F-DE0F-E0957C47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4703C-3281-8B16-0914-CA467F3B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19FA6-D333-5B8B-1D2A-4448BB64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8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9D14D-0FDD-6D57-E26A-84B6F35A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E6208-740A-F6F4-A9AE-B02F48C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56D88-48C6-0EBA-CB5D-AB571751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4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9D1C-6CE4-0476-8D07-FBFE3F21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83482-AFA6-671E-333E-4661AC122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57324-5FC2-23A8-923B-18B8ACB59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7F160-2C9E-AA24-CBA1-8CE19A83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1BB2A-31B3-4B8F-C5F2-8063E735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CCA1-2CA6-AC7B-FE6F-05850DC7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08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6AFD-5A3B-1CD1-53BF-DB6D7F59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CEEF8-E4B3-5F2F-3DF3-0F353D4E7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62A5E-369D-0212-E8CD-191958357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0BAEE-AA4D-61F6-119C-BD11D1D9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C40B4-A36F-0AFA-1461-576006A9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EB704-A3D9-73EF-689F-E22D3528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9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1CAC-3095-F80F-41D3-F27701D1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B0AC1-9ADF-483F-935B-8FC9EE99D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0421D-10F5-4AAC-B3DD-727BBE7A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8265F-3600-8ADD-D322-F3FDF452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809EC-B6E5-0236-11EC-253596BC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82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34991-A10C-5025-7578-824690812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2338E-1277-EF49-5CEF-6CC5C47E1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CB793-08E5-85CA-0293-939C215C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9DB70-B1F1-A6F4-EC94-40DCED44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1F79-1847-B26F-945E-CBEC7EAC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2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274E4-6CF9-F30B-4A2D-0590F3FF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BB960-B6A8-4B97-9E91-BD678F488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A467-B020-5E7B-F88F-690A16029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51311-AA5A-463D-BF80-685140C5394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11BD-1A6F-608A-A4C6-7D60474A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7728F-A4C0-71AB-EB2B-4CBABB1A3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23E1A-2C66-4FEE-AACE-275382D8B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1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4B1D-A4E6-C5A4-9264-DEE810D71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Channel Estimation using PARAFAC and Sum-Rate Maximization for STAR-RIS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45626-1472-474E-6CEC-28AEC90D5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r"/>
            <a:endParaRPr lang="en-IN" dirty="0"/>
          </a:p>
          <a:p>
            <a:pPr algn="r"/>
            <a:r>
              <a:rPr lang="en-IN" dirty="0"/>
              <a:t>Vinay Kusumanchi</a:t>
            </a:r>
            <a:br>
              <a:rPr lang="en-IN" dirty="0"/>
            </a:br>
            <a:r>
              <a:rPr lang="en-IN" dirty="0"/>
              <a:t>(IMT2023608)</a:t>
            </a:r>
          </a:p>
          <a:p>
            <a:pPr algn="r"/>
            <a:r>
              <a:rPr lang="en-IN" dirty="0"/>
              <a:t>Rajdeep Alapati</a:t>
            </a:r>
            <a:br>
              <a:rPr lang="en-IN" dirty="0"/>
            </a:br>
            <a:r>
              <a:rPr lang="en-IN"/>
              <a:t>(IMT2023592)</a:t>
            </a:r>
            <a:endParaRPr lang="en-IN" dirty="0"/>
          </a:p>
        </p:txBody>
      </p:sp>
      <p:pic>
        <p:nvPicPr>
          <p:cNvPr id="4" name="Picture 2" descr="Media Kit">
            <a:extLst>
              <a:ext uri="{FF2B5EF4-FFF2-40B4-BE49-F238E27FC236}">
                <a16:creationId xmlns:a16="http://schemas.microsoft.com/office/drawing/2014/main" id="{475115A3-8CAE-2415-9569-642A86E85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1387" y="0"/>
            <a:ext cx="890613" cy="630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34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C222-AE57-638C-F0F9-DD3AE54B69C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Why RIS?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97BF-3245-B15D-BE18-F40A5D89B521}"/>
              </a:ext>
            </a:extLst>
          </p:cNvPr>
          <p:cNvSpPr txBox="1">
            <a:spLocks/>
          </p:cNvSpPr>
          <p:nvPr/>
        </p:nvSpPr>
        <p:spPr>
          <a:xfrm>
            <a:off x="6934200" y="316706"/>
            <a:ext cx="5257800" cy="2747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631E9-8013-0F6E-1933-E560D167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58" y="3104535"/>
            <a:ext cx="6095999" cy="3189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7CD03C-F798-9B9F-36AB-55B68776968D}"/>
              </a:ext>
            </a:extLst>
          </p:cNvPr>
          <p:cNvSpPr txBox="1"/>
          <p:nvPr/>
        </p:nvSpPr>
        <p:spPr>
          <a:xfrm>
            <a:off x="838201" y="1690688"/>
            <a:ext cx="10515599" cy="2932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6G and beyond demand for spectrum efficiency &amp; energy efficiency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Traditional solutions:</a:t>
            </a:r>
            <a:b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Large antenna arrays at BS → costly, high power consumption.</a:t>
            </a:r>
            <a:b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Limited coverage in blocked areas.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IN" sz="2400" b="1" dirty="0"/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B00F7-67C0-DC78-3261-668590067664}"/>
              </a:ext>
            </a:extLst>
          </p:cNvPr>
          <p:cNvSpPr txBox="1"/>
          <p:nvPr/>
        </p:nvSpPr>
        <p:spPr>
          <a:xfrm>
            <a:off x="838200" y="3429000"/>
            <a:ext cx="5031658" cy="312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Reconfigurable Intelligent Surfaces (RIS):</a:t>
            </a:r>
            <a:br>
              <a:rPr lang="en-IN" sz="2400" dirty="0"/>
            </a:br>
            <a:r>
              <a:rPr lang="en-IN" sz="2400" dirty="0"/>
              <a:t>Low-cost meta-surfaces with passive elements.</a:t>
            </a:r>
            <a:br>
              <a:rPr lang="en-IN" sz="2400" dirty="0"/>
            </a:br>
            <a:r>
              <a:rPr lang="en-IN" sz="2400" dirty="0"/>
              <a:t>Shape the wireless channel itself</a:t>
            </a:r>
            <a:br>
              <a:rPr lang="en-IN" sz="2400" dirty="0"/>
            </a:br>
            <a:r>
              <a:rPr lang="en-IN" sz="2400" dirty="0"/>
              <a:t>(not just adapt to it).</a:t>
            </a:r>
            <a:br>
              <a:rPr lang="en-IN" sz="2400" dirty="0"/>
            </a:br>
            <a:r>
              <a:rPr lang="en-IN" sz="2400" dirty="0">
                <a:solidFill>
                  <a:prstClr val="black"/>
                </a:solidFill>
              </a:rPr>
              <a:t>Reduces coverage holes and improves spectral efficiency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658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A06D-881A-CFC6-C835-1B4B1522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is RIS?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89E01-C8A1-0F06-85B9-1F25AE6BF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82069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2D </a:t>
            </a:r>
            <a:r>
              <a:rPr lang="en-US" dirty="0" err="1"/>
              <a:t>metasurface</a:t>
            </a:r>
            <a:r>
              <a:rPr lang="en-US" dirty="0"/>
              <a:t> made of many programmable passive elements.</a:t>
            </a:r>
          </a:p>
          <a:p>
            <a:r>
              <a:rPr lang="en-US" dirty="0"/>
              <a:t>Each element applies a controllable phase shift to the incident wave.</a:t>
            </a:r>
          </a:p>
          <a:p>
            <a:r>
              <a:rPr lang="en-US" dirty="0"/>
              <a:t>Works as a passive reflector.</a:t>
            </a:r>
          </a:p>
          <a:p>
            <a:r>
              <a:rPr lang="en-US" dirty="0"/>
              <a:t>No RF chains, no mixers, no ADCs → extremely low-cost &amp; low-power.</a:t>
            </a:r>
          </a:p>
          <a:p>
            <a:r>
              <a:rPr lang="en-US" dirty="0"/>
              <a:t>Can redirect signals toward desired users by controlling phases.</a:t>
            </a:r>
          </a:p>
          <a:p>
            <a:r>
              <a:rPr lang="en-US" dirty="0"/>
              <a:t>Improves SNR, coverage, and spectral efficiency.</a:t>
            </a:r>
          </a:p>
          <a:p>
            <a:r>
              <a:rPr lang="en-US" dirty="0"/>
              <a:t>Channel estimation is challenging because RIS is passive (no receive chain)</a:t>
            </a:r>
            <a:endParaRPr lang="en-I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4AEF1-EEF7-8393-B3C4-48BAACD19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269" y="2464969"/>
            <a:ext cx="3633531" cy="30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89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B73D-25DA-62FE-2F35-30671C86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is STAR-RIS?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9B66B-0B66-AD8A-DA8D-56FD9F34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4495"/>
            <a:ext cx="5159477" cy="379246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Supports users on both sides of the panel (front &amp; back).</a:t>
            </a:r>
          </a:p>
          <a:p>
            <a:r>
              <a:rPr lang="en-US" dirty="0"/>
              <a:t>Enables full-space coverage (360°).</a:t>
            </a:r>
          </a:p>
          <a:p>
            <a:r>
              <a:rPr lang="en-US" dirty="0"/>
              <a:t>Each element intelligently controls how much signal goes through (transmission) or bounces back (reflection).</a:t>
            </a:r>
          </a:p>
          <a:p>
            <a:r>
              <a:rPr lang="en-US" dirty="0"/>
              <a:t>Why it matters:</a:t>
            </a:r>
            <a:br>
              <a:rPr lang="en-US" dirty="0"/>
            </a:br>
            <a:r>
              <a:rPr lang="en-US" dirty="0"/>
              <a:t>Traditional RIS → only reflects → cannot help users behind the panel.</a:t>
            </a:r>
            <a:br>
              <a:rPr lang="en-US" dirty="0"/>
            </a:br>
            <a:r>
              <a:rPr lang="en-US" dirty="0"/>
              <a:t>STAR-RIS → solves this limitation → improves coverage &amp; throughput.</a:t>
            </a:r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109FF-CD43-6B7A-9627-4AC8223E2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27757"/>
            <a:ext cx="4958916" cy="3305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9021ED-410C-DEA2-B92A-82A08F0C3EFF}"/>
              </a:ext>
            </a:extLst>
          </p:cNvPr>
          <p:cNvSpPr txBox="1"/>
          <p:nvPr/>
        </p:nvSpPr>
        <p:spPr>
          <a:xfrm>
            <a:off x="838200" y="1553497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STAR-RIS (Simultaneous Transmission And Reflection RIS)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Upgraded version of RIS that can transmit and reflect signals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88416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8DF7-095F-665E-85A9-1A05E9A8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System Model for STAR-RIS Assisted </a:t>
            </a:r>
            <a:r>
              <a:rPr lang="en-IN" sz="3600" dirty="0" err="1"/>
              <a:t>mmWave</a:t>
            </a:r>
            <a:r>
              <a:rPr lang="en-IN" sz="3600" dirty="0"/>
              <a:t>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84DF7-0C6F-41CE-46AE-58B3D1E6D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Consider a Base Station with M antennas assisting K users via a STAR-RIS with N elements.</a:t>
            </a:r>
          </a:p>
          <a:p>
            <a:r>
              <a:rPr lang="en-IN" dirty="0"/>
              <a:t>Users are divided into: Transmission users (Kt), Reflection users (Kr)</a:t>
            </a:r>
          </a:p>
          <a:p>
            <a:r>
              <a:rPr lang="en-IN" dirty="0"/>
              <a:t>STAR-RIS simultaneously: Reflects towards one side and transmits towards the opposite side</a:t>
            </a:r>
          </a:p>
          <a:p>
            <a:r>
              <a:rPr lang="en-IN" dirty="0"/>
              <a:t>All users communicate with the BS only through STAR-RIS (direct link blocked).</a:t>
            </a:r>
          </a:p>
          <a:p>
            <a:r>
              <a:rPr lang="en-IN" dirty="0"/>
              <a:t>G ∈ ℂ^{M×N} = BS → STAR-RIS channel</a:t>
            </a:r>
            <a:br>
              <a:rPr lang="en-IN" dirty="0"/>
            </a:br>
            <a:r>
              <a:rPr lang="en-IN" dirty="0"/>
              <a:t>hᵗₖ, </a:t>
            </a:r>
            <a:r>
              <a:rPr lang="en-IN" dirty="0" err="1"/>
              <a:t>hʳ</a:t>
            </a:r>
            <a:r>
              <a:rPr lang="en-IN" dirty="0"/>
              <a:t>ₖ ∈ ℂ^{N×1} = STAR-RIS → user channels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F7127-2CBF-588B-F27A-DE411CEE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585" b="13262"/>
          <a:stretch>
            <a:fillRect/>
          </a:stretch>
        </p:blipFill>
        <p:spPr>
          <a:xfrm>
            <a:off x="6663951" y="2292160"/>
            <a:ext cx="4689849" cy="341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0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DB66-20DF-CA50-DAAA-436198CA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Transmission and Reflection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1F0D1-3DB5-CD1B-EF76-BFB7B1D49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Each RIS element has two adjustable coefficients:</a:t>
            </a:r>
          </a:p>
          <a:p>
            <a:pPr lvl="1"/>
            <a:r>
              <a:rPr lang="en-IN" dirty="0"/>
              <a:t>Transmission: </a:t>
            </a:r>
          </a:p>
          <a:p>
            <a:pPr lvl="1"/>
            <a:r>
              <a:rPr lang="en-IN" dirty="0"/>
              <a:t>Reflection: </a:t>
            </a:r>
          </a:p>
          <a:p>
            <a:r>
              <a:rPr lang="en-IN" dirty="0"/>
              <a:t>Energy conservation constraint: </a:t>
            </a:r>
          </a:p>
          <a:p>
            <a:r>
              <a:rPr lang="en-IN" dirty="0"/>
              <a:t>Common setting used in paper (equal splitting):  </a:t>
            </a:r>
          </a:p>
          <a:p>
            <a:r>
              <a:rPr lang="en-US" dirty="0"/>
              <a:t>STAR-RIS can direct signals toward both sides of the surface by tuning phases and amplitudes.</a:t>
            </a:r>
          </a:p>
          <a:p>
            <a:r>
              <a:rPr lang="en-US" dirty="0"/>
              <a:t>Phases 𝜃𝑡,𝜃𝑟​ determine the beam directions for transmission &amp; reflection.</a:t>
            </a:r>
          </a:p>
          <a:p>
            <a:r>
              <a:rPr lang="en-US" dirty="0"/>
              <a:t>Amplitudes 𝛽𝑡,𝛽𝑟​ determine how much energy goes to each side.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977A6-DE33-8271-C5BB-30444F070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045" y="2248788"/>
            <a:ext cx="3391373" cy="314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2E72D7-61C8-FB10-3F49-DE043737B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155" y="2659672"/>
            <a:ext cx="3372321" cy="314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70F09C-C1AD-6579-1349-9202B015B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58" y="3070556"/>
            <a:ext cx="1924319" cy="314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967D13-B26B-971D-8F9E-93B4A8C7D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162" y="3500152"/>
            <a:ext cx="1886213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9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CE6C-455C-DBF5-907D-376C92DC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Saleh–Valenzuela mmWave Channel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5EF64-8180-C49E-8154-95549F3D7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mmWave</a:t>
            </a:r>
            <a:r>
              <a:rPr lang="en-IN" dirty="0"/>
              <a:t> channels </a:t>
            </a:r>
            <a:r>
              <a:rPr lang="en-IN" dirty="0" err="1"/>
              <a:t>modeled</a:t>
            </a:r>
            <a:r>
              <a:rPr lang="en-IN" dirty="0"/>
              <a:t> as sparse multipath (</a:t>
            </a:r>
            <a:r>
              <a:rPr lang="en-IN" dirty="0" err="1"/>
              <a:t>LoS</a:t>
            </a:r>
            <a:r>
              <a:rPr lang="en-IN" dirty="0"/>
              <a:t> + few </a:t>
            </a:r>
            <a:r>
              <a:rPr lang="en-IN" dirty="0" err="1"/>
              <a:t>NLoS</a:t>
            </a:r>
            <a:r>
              <a:rPr lang="en-IN" dirty="0"/>
              <a:t> paths).</a:t>
            </a:r>
          </a:p>
          <a:p>
            <a:r>
              <a:rPr lang="en-IN" dirty="0"/>
              <a:t>BS → RIS channel:</a:t>
            </a:r>
          </a:p>
          <a:p>
            <a:r>
              <a:rPr lang="en-IN" dirty="0"/>
              <a:t>RIS → User channels:</a:t>
            </a:r>
          </a:p>
          <a:p>
            <a:r>
              <a:rPr lang="en-IN" dirty="0"/>
              <a:t>Steering vectors correspond to RIS UPA and BS ULA </a:t>
            </a:r>
          </a:p>
          <a:p>
            <a:r>
              <a:rPr lang="en-US" dirty="0"/>
              <a:t>Steering vectors specify how signals arrive/depart based on angle of arrival (</a:t>
            </a:r>
            <a:r>
              <a:rPr lang="en-US" dirty="0" err="1"/>
              <a:t>AoA</a:t>
            </a:r>
            <a:r>
              <a:rPr lang="en-US" dirty="0"/>
              <a:t>) and angle of departure (</a:t>
            </a:r>
            <a:r>
              <a:rPr lang="en-US" dirty="0" err="1"/>
              <a:t>AoD</a:t>
            </a:r>
            <a:r>
              <a:rPr lang="en-US" dirty="0"/>
              <a:t>).</a:t>
            </a:r>
            <a:endParaRPr lang="en-IN" dirty="0"/>
          </a:p>
          <a:p>
            <a:r>
              <a:rPr lang="en-IN" dirty="0"/>
              <a:t>Key properties:</a:t>
            </a:r>
          </a:p>
          <a:p>
            <a:pPr lvl="1"/>
            <a:r>
              <a:rPr lang="en-IN" dirty="0"/>
              <a:t>Sparse</a:t>
            </a:r>
          </a:p>
          <a:p>
            <a:pPr lvl="1"/>
            <a:r>
              <a:rPr lang="en-IN" dirty="0"/>
              <a:t>Low-rank</a:t>
            </a:r>
          </a:p>
          <a:p>
            <a:pPr lvl="1"/>
            <a:r>
              <a:rPr lang="en-IN" dirty="0"/>
              <a:t>Highly directional</a:t>
            </a:r>
          </a:p>
          <a:p>
            <a:pPr marL="457200" lvl="1" indent="0">
              <a:buNone/>
            </a:pPr>
            <a:r>
              <a:rPr lang="en-IN" dirty="0"/>
              <a:t>→ exploited later in estimation.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B1B3B3C-B08A-FF08-02E9-95D105B7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980" y="2183429"/>
            <a:ext cx="2106053" cy="539513"/>
          </a:xfrm>
          <a:prstGeom prst="rect">
            <a:avLst/>
          </a:prstGeom>
        </p:spPr>
      </p:pic>
      <p:pic>
        <p:nvPicPr>
          <p:cNvPr id="8" name="Picture 7" descr="A math equation on a white background&#10;&#10;AI-generated content may be incorrect.">
            <a:extLst>
              <a:ext uri="{FF2B5EF4-FFF2-40B4-BE49-F238E27FC236}">
                <a16:creationId xmlns:a16="http://schemas.microsoft.com/office/drawing/2014/main" id="{75316A5A-C7B7-366B-FFB9-DFAB6654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908" y="2664548"/>
            <a:ext cx="3266259" cy="481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DBB42B-A0C8-EAB8-F659-B07EE3802D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458" t="3797" b="12244"/>
          <a:stretch>
            <a:fillRect/>
          </a:stretch>
        </p:blipFill>
        <p:spPr>
          <a:xfrm>
            <a:off x="8129189" y="4001294"/>
            <a:ext cx="2571760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47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699B-B538-A0E8-1A11-38B80F3F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Received Signal Model (Pilots + STAR-RIS Phases)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EC0E-0053-1925-AA5F-F0099F308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During pilot transmission, the BS receives signals through the STAR-RIS only (direct path blocked).</a:t>
            </a:r>
          </a:p>
          <a:p>
            <a:r>
              <a:rPr lang="en-IN" dirty="0"/>
              <a:t>Received signal at time slot i:</a:t>
            </a:r>
          </a:p>
          <a:p>
            <a:r>
              <a:rPr lang="en-IN" dirty="0"/>
              <a:t>Components:</a:t>
            </a:r>
          </a:p>
          <a:p>
            <a:pPr lvl="1"/>
            <a:r>
              <a:rPr lang="en-IN" dirty="0"/>
              <a:t>G ∈ C^{M×N}: BS → STAR-RIS channel</a:t>
            </a:r>
          </a:p>
          <a:p>
            <a:pPr lvl="1"/>
            <a:r>
              <a:rPr lang="en-IN" dirty="0"/>
              <a:t>𝐻𝑟, 𝐻𝑡 ∈ 𝐶^{𝑁×𝐾}: RIS → users (Reflection / Transmission)</a:t>
            </a:r>
          </a:p>
          <a:p>
            <a:pPr lvl="1"/>
            <a:r>
              <a:rPr lang="en-IN" dirty="0"/>
              <a:t>𝛩𝑟(𝑖), 𝛩𝑡(𝑖): RIS reflection &amp; transmission phase matrices at slot </a:t>
            </a:r>
            <a:r>
              <a:rPr lang="en-IN" dirty="0" err="1"/>
              <a:t>i</a:t>
            </a:r>
            <a:endParaRPr lang="en-IN" dirty="0"/>
          </a:p>
          <a:p>
            <a:pPr lvl="1"/>
            <a:r>
              <a:rPr lang="en-IN" dirty="0"/>
              <a:t>𝑠𝑟(𝑖), 𝑠𝑡(𝑖): pilot symbols</a:t>
            </a:r>
          </a:p>
          <a:p>
            <a:pPr lvl="1"/>
            <a:r>
              <a:rPr lang="en-IN" dirty="0"/>
              <a:t>𝑛(𝑖) ∼ 𝐶𝑁(0, (𝜎^2)𝐼): noise</a:t>
            </a:r>
          </a:p>
          <a:p>
            <a:r>
              <a:rPr lang="en-IN" dirty="0"/>
              <a:t>Key idea: RIS phases </a:t>
            </a:r>
            <a:r>
              <a:rPr lang="el-GR" dirty="0"/>
              <a:t>Θ𝑡(𝑖),</a:t>
            </a:r>
            <a:r>
              <a:rPr lang="en-IN" dirty="0"/>
              <a:t> </a:t>
            </a:r>
            <a:r>
              <a:rPr lang="el-GR" dirty="0"/>
              <a:t>Θ𝑟(𝑖)</a:t>
            </a:r>
            <a:r>
              <a:rPr lang="en-IN" dirty="0"/>
              <a:t> are changed every pilot slot introduces diversity needed for PARAFAC.</a:t>
            </a:r>
          </a:p>
          <a:p>
            <a:r>
              <a:rPr lang="en-IN" dirty="0"/>
              <a:t>Goal: Collect received pilot signals to form a 3D tensor, enabling joint estimation of 𝐺, 𝐻𝑟​, and 𝐻𝑡​.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54CBF-8703-3E0D-FB0E-27456C29F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013" y="2404392"/>
            <a:ext cx="554432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3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0162-91BC-A6A0-CD58-089EA501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PARAFAC?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EAF46-2BBE-FFBD-F097-BA89EEB7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400" dirty="0"/>
              <a:t>The received pilots naturally form a 3-way tensor</a:t>
            </a:r>
            <a:br>
              <a:rPr lang="en-IN" sz="2400" dirty="0"/>
            </a:br>
            <a:r>
              <a:rPr lang="en-IN" sz="2400" dirty="0"/>
              <a:t>(BS antennas × pilot symbols × RIS phase patterns).</a:t>
            </a:r>
          </a:p>
          <a:p>
            <a:r>
              <a:rPr lang="en-IN" sz="2400" dirty="0"/>
              <a:t>The three unknown channels G, Hr, </a:t>
            </a:r>
            <a:r>
              <a:rPr lang="en-IN" sz="2400" dirty="0" err="1"/>
              <a:t>Ht</a:t>
            </a:r>
            <a:r>
              <a:rPr lang="en-IN" sz="2400" dirty="0"/>
              <a:t> appear as three tensor factors.</a:t>
            </a:r>
          </a:p>
          <a:p>
            <a:r>
              <a:rPr lang="en-IN" sz="2400" dirty="0"/>
              <a:t>RIS phase changes across pilot slots create a trilinear model:</a:t>
            </a:r>
          </a:p>
          <a:p>
            <a:r>
              <a:rPr lang="en-IN" sz="2400" dirty="0"/>
              <a:t>PARAFAC/CP decomposition is built exactly for such trilinear tensors.</a:t>
            </a:r>
          </a:p>
          <a:p>
            <a:r>
              <a:rPr lang="en-IN" sz="2400" dirty="0"/>
              <a:t>Identifiability: PARAFAC guarantees unique recovery of 𝐺,𝐻𝑟,𝐻𝑡 under mild conditions unlike matrix LS/MMSE.</a:t>
            </a:r>
          </a:p>
          <a:p>
            <a:r>
              <a:rPr lang="en-IN" sz="2400" dirty="0"/>
              <a:t>Pilot-efficient: Needs far fewer pilots since it uses the tensor structure.</a:t>
            </a:r>
          </a:p>
          <a:p>
            <a:r>
              <a:rPr lang="en-IN" sz="2400" dirty="0"/>
              <a:t>Joint estimation: Estimates all channels simultaneously (BS → RIS and RIS → Users).</a:t>
            </a:r>
          </a:p>
          <a:p>
            <a:r>
              <a:rPr lang="en-IN" sz="2400" dirty="0"/>
              <a:t>Structure-exploiting: Works because RIS phases create rank-1 components in each mode.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D7775-3F54-85E2-16F4-B6254884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646" y="2953643"/>
            <a:ext cx="2419688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C75F-833E-1F6B-531D-6340333D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PARAFAC Tensor Model</a:t>
            </a:r>
          </a:p>
        </p:txBody>
      </p:sp>
      <p:pic>
        <p:nvPicPr>
          <p:cNvPr id="3" name="Picture 2" descr="A white background with black text">
            <a:extLst>
              <a:ext uri="{FF2B5EF4-FFF2-40B4-BE49-F238E27FC236}">
                <a16:creationId xmlns:a16="http://schemas.microsoft.com/office/drawing/2014/main" id="{2F98916D-2E3C-C119-736F-A35701013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568381" cy="2443569"/>
          </a:xfrm>
          <a:prstGeom prst="rect">
            <a:avLst/>
          </a:prstGeom>
        </p:spPr>
      </p:pic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1F1956C-C09B-FBED-CF7B-E6F646DD0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39697"/>
            <a:ext cx="6923626" cy="2042706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CB1098AF-47B2-B5F8-8271-E43F9E3B1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17" y="2762157"/>
            <a:ext cx="3630527" cy="14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2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19E6-331F-076E-754E-84FF1E13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PARAFAC Algorithm (ALS Updates)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ECF32-A65E-6CDA-B8CE-92F3CFF2A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PARAFAC solves for the three channel matrices by alternating updates:</a:t>
                </a:r>
              </a:p>
              <a:p>
                <a:pPr lvl="1"/>
                <a:r>
                  <a:rPr lang="en-IN" dirty="0"/>
                  <a:t>Update Hr and </a:t>
                </a:r>
                <a:r>
                  <a:rPr lang="en-IN" dirty="0" err="1"/>
                  <a:t>Ht</a:t>
                </a:r>
                <a:r>
                  <a:rPr lang="en-IN" dirty="0"/>
                  <a:t> (RIS → users)</a:t>
                </a:r>
              </a:p>
              <a:p>
                <a:pPr lvl="2"/>
                <a:r>
                  <a:rPr lang="en-IN" dirty="0"/>
                  <a:t>Fix G and RIS phases, solve:</a:t>
                </a:r>
              </a:p>
              <a:p>
                <a:pPr lvl="2"/>
                <a:r>
                  <a:rPr lang="en-IN" dirty="0"/>
                  <a:t>Done via least squares after unfolding the tensor.</a:t>
                </a:r>
              </a:p>
              <a:p>
                <a:pPr lvl="1"/>
                <a:r>
                  <a:rPr lang="en-IN" dirty="0"/>
                  <a:t>Update </a:t>
                </a:r>
                <a:r>
                  <a:rPr lang="en-IN" dirty="0" err="1"/>
                  <a:t>Ht</a:t>
                </a:r>
                <a:r>
                  <a:rPr lang="en-IN" dirty="0"/>
                  <a:t> similarly</a:t>
                </a:r>
              </a:p>
              <a:p>
                <a:pPr lvl="2"/>
                <a:r>
                  <a:rPr lang="en-IN" dirty="0"/>
                  <a:t>Same LS structure with transmission pilots.</a:t>
                </a:r>
              </a:p>
              <a:p>
                <a:pPr lvl="1"/>
                <a:r>
                  <a:rPr lang="en-IN" dirty="0"/>
                  <a:t>Normalize each row</a:t>
                </a:r>
              </a:p>
              <a:p>
                <a:pPr lvl="2"/>
                <a:r>
                  <a:rPr lang="en-IN" dirty="0"/>
                  <a:t>Remove scaling ambiguity:</a:t>
                </a:r>
              </a:p>
              <a:p>
                <a:pPr lvl="1"/>
                <a:r>
                  <a:rPr lang="en-IN" dirty="0"/>
                  <a:t>Update G (BS → RIS)</a:t>
                </a:r>
              </a:p>
              <a:p>
                <a:pPr lvl="2"/>
                <a:r>
                  <a:rPr lang="en-IN" dirty="0"/>
                  <a:t>Fix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𝐻𝑟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𝐻𝑡</m:t>
                    </m:r>
                  </m:oMath>
                </a14:m>
                <a:r>
                  <a:rPr lang="en-IN" dirty="0"/>
                  <a:t>, and solve:</a:t>
                </a:r>
              </a:p>
              <a:p>
                <a:pPr lvl="1"/>
                <a:r>
                  <a:rPr lang="en-IN" dirty="0"/>
                  <a:t>Repeat until convergence</a:t>
                </a:r>
              </a:p>
              <a:p>
                <a:pPr lvl="2"/>
                <a:r>
                  <a:rPr lang="en-IN" dirty="0"/>
                  <a:t>Typically 5–30 iterations</a:t>
                </a:r>
              </a:p>
              <a:p>
                <a:pPr lvl="2"/>
                <a:r>
                  <a:rPr lang="en-IN" dirty="0"/>
                  <a:t>NMSE decreases rapidly with SNR.</a:t>
                </a:r>
              </a:p>
              <a:p>
                <a:r>
                  <a:rPr lang="en-IN" dirty="0"/>
                  <a:t>PARAFAC jointly estimates all channels using short pilots, exploiting the tensor structure created by RIS phase switching.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ECF32-A65E-6CDA-B8CE-92F3CFF2A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9D9A4B-3F0D-169C-C56C-0B7461F98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624" y="2513354"/>
            <a:ext cx="2962688" cy="447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0D3E6-B704-F23F-3269-F2A6E264D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366" y="3648820"/>
            <a:ext cx="2991267" cy="352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DC59C5-5673-A8FF-F503-802FDE3C2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7014" y="4140341"/>
            <a:ext cx="2734057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62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692B-70B0-2F7E-979B-A6854EF5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PARAFAC 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7CF48-3D5E-254A-09F9-9BA75D6EE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Parameters used in simulation:</a:t>
            </a:r>
          </a:p>
          <a:p>
            <a:pPr lvl="1"/>
            <a:r>
              <a:rPr lang="en-IN" dirty="0"/>
              <a:t>BS antennas: K = 16</a:t>
            </a:r>
          </a:p>
          <a:p>
            <a:pPr lvl="1"/>
            <a:r>
              <a:rPr lang="en-IN" dirty="0"/>
              <a:t>RIS elements: N = 16</a:t>
            </a:r>
          </a:p>
          <a:p>
            <a:pPr lvl="1"/>
            <a:r>
              <a:rPr lang="en-IN" dirty="0"/>
              <a:t>Reflection users: M = 6</a:t>
            </a:r>
          </a:p>
          <a:p>
            <a:pPr lvl="1"/>
            <a:r>
              <a:rPr lang="en-IN" dirty="0"/>
              <a:t>Transmission users: M₁ = 6</a:t>
            </a:r>
          </a:p>
          <a:p>
            <a:pPr lvl="1"/>
            <a:r>
              <a:rPr lang="en-IN" dirty="0"/>
              <a:t>Pilots per user: T = 30</a:t>
            </a:r>
          </a:p>
          <a:p>
            <a:pPr lvl="1"/>
            <a:r>
              <a:rPr lang="en-IN" dirty="0"/>
              <a:t>RIS phase patterns (slots): P = 16</a:t>
            </a:r>
          </a:p>
          <a:p>
            <a:r>
              <a:rPr lang="en-IN" dirty="0"/>
              <a:t>Training procedure:</a:t>
            </a:r>
          </a:p>
          <a:p>
            <a:pPr lvl="1"/>
            <a:r>
              <a:rPr lang="en-IN" dirty="0"/>
              <a:t>Users transmit pilots</a:t>
            </a:r>
          </a:p>
          <a:p>
            <a:pPr lvl="1"/>
            <a:r>
              <a:rPr lang="en-IN" dirty="0"/>
              <a:t>RIS phases change every slot</a:t>
            </a:r>
          </a:p>
          <a:p>
            <a:pPr lvl="1"/>
            <a:r>
              <a:rPr lang="en-IN" dirty="0"/>
              <a:t>Received signals form a K × T × P tensor</a:t>
            </a:r>
          </a:p>
          <a:p>
            <a:pPr lvl="1"/>
            <a:r>
              <a:rPr lang="en-IN" dirty="0"/>
              <a:t>PARAFAC decomposes tensor to estimate:</a:t>
            </a:r>
          </a:p>
          <a:p>
            <a:pPr lvl="2"/>
            <a:r>
              <a:rPr lang="en-IN" dirty="0"/>
              <a:t>G (BS→RIS)</a:t>
            </a:r>
          </a:p>
          <a:p>
            <a:pPr lvl="2"/>
            <a:r>
              <a:rPr lang="en-IN" dirty="0"/>
              <a:t>Hr (RIS → Reflection users)</a:t>
            </a:r>
          </a:p>
          <a:p>
            <a:pPr lvl="2"/>
            <a:r>
              <a:rPr lang="en-IN" dirty="0" err="1"/>
              <a:t>Ht</a:t>
            </a:r>
            <a:r>
              <a:rPr lang="en-IN" dirty="0"/>
              <a:t> (RIS → Transmission users)</a:t>
            </a:r>
          </a:p>
          <a:p>
            <a:r>
              <a:rPr lang="en-IN" dirty="0"/>
              <a:t>Baselines compared:</a:t>
            </a:r>
          </a:p>
          <a:p>
            <a:pPr lvl="1"/>
            <a:r>
              <a:rPr lang="en-IN" dirty="0"/>
              <a:t>PARAFAC (our method)</a:t>
            </a:r>
          </a:p>
          <a:p>
            <a:pPr lvl="1"/>
            <a:r>
              <a:rPr lang="en-IN" dirty="0"/>
              <a:t>Oracle LS → Least squares using true channels (ideal but unrealistic baseline)</a:t>
            </a:r>
          </a:p>
        </p:txBody>
      </p:sp>
    </p:spTree>
    <p:extLst>
      <p:ext uri="{BB962C8B-B14F-4D97-AF65-F5344CB8AC3E}">
        <p14:creationId xmlns:p14="http://schemas.microsoft.com/office/powerpoint/2010/main" val="34000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7C61-BEBF-25B2-B8D2-307971F2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800" dirty="0"/>
              <a:t>PARAFAC Channel Estimation Results (NMSE vs SNR)</a:t>
            </a:r>
          </a:p>
        </p:txBody>
      </p:sp>
      <p:pic>
        <p:nvPicPr>
          <p:cNvPr id="5" name="Content Placeholder 4" descr="A graph of different colored lines">
            <a:extLst>
              <a:ext uri="{FF2B5EF4-FFF2-40B4-BE49-F238E27FC236}">
                <a16:creationId xmlns:a16="http://schemas.microsoft.com/office/drawing/2014/main" id="{5F267E02-74E4-1A7A-6F38-568E9D341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5823"/>
            <a:ext cx="7243916" cy="3878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E56F42-5741-D717-6B7C-158678834495}"/>
              </a:ext>
            </a:extLst>
          </p:cNvPr>
          <p:cNvSpPr txBox="1"/>
          <p:nvPr/>
        </p:nvSpPr>
        <p:spPr>
          <a:xfrm>
            <a:off x="8082116" y="1690688"/>
            <a:ext cx="35199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Observations: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PARAFAC NMSE decreases significantly with SNR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Oracle LS slightly better (as it knows true channels)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Hr and </a:t>
            </a:r>
            <a:r>
              <a:rPr lang="en-IN" dirty="0" err="1"/>
              <a:t>Ht</a:t>
            </a:r>
            <a:r>
              <a:rPr lang="en-IN" dirty="0"/>
              <a:t> have lower NMSE since RIS-user links have fewer unknowns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 (BS→RIS) has slightly higher NMSE because it has larger dimension (16×16) and more multipath uncertainty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PARAFAC successfully recovers all channels using short pilots and no LS overhead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541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E4BD-E11C-C67C-A1C1-6109F8BB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Optimization After PARAFAC?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0BED1-08EA-673C-9999-F07E5927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PARAFAC only gives channel estimates (G, Hr, </a:t>
            </a:r>
            <a:r>
              <a:rPr lang="en-IN" dirty="0" err="1"/>
              <a:t>Ht</a:t>
            </a:r>
            <a:r>
              <a:rPr lang="en-IN" dirty="0"/>
              <a:t>)</a:t>
            </a:r>
          </a:p>
          <a:p>
            <a:r>
              <a:rPr lang="en-IN" dirty="0"/>
              <a:t>But STAR-RIS has:</a:t>
            </a:r>
          </a:p>
          <a:p>
            <a:pPr lvl="1"/>
            <a:r>
              <a:rPr lang="en-IN" dirty="0"/>
              <a:t>Amplitude coupling: </a:t>
            </a:r>
            <a:r>
              <a:rPr lang="el-GR" dirty="0"/>
              <a:t>β</a:t>
            </a:r>
            <a:r>
              <a:rPr lang="en-IN" dirty="0"/>
              <a:t>ₜ,n² + </a:t>
            </a:r>
            <a:r>
              <a:rPr lang="el-GR" dirty="0"/>
              <a:t>β</a:t>
            </a:r>
            <a:r>
              <a:rPr lang="en-IN" dirty="0"/>
              <a:t>ᵣ,n² = 1</a:t>
            </a:r>
          </a:p>
          <a:p>
            <a:pPr lvl="1"/>
            <a:r>
              <a:rPr lang="en-IN" dirty="0"/>
              <a:t>Phase coupling: cos(</a:t>
            </a:r>
            <a:r>
              <a:rPr lang="el-GR" dirty="0"/>
              <a:t>φ</a:t>
            </a:r>
            <a:r>
              <a:rPr lang="en-IN" dirty="0"/>
              <a:t>ₜ,n − </a:t>
            </a:r>
            <a:r>
              <a:rPr lang="el-GR" dirty="0"/>
              <a:t>φ</a:t>
            </a:r>
            <a:r>
              <a:rPr lang="en-IN" dirty="0"/>
              <a:t>ᵣ,n) = 0 ⇒ |</a:t>
            </a:r>
            <a:r>
              <a:rPr lang="el-GR" dirty="0"/>
              <a:t>φ</a:t>
            </a:r>
            <a:r>
              <a:rPr lang="en-IN" dirty="0"/>
              <a:t>ₜ − </a:t>
            </a:r>
            <a:r>
              <a:rPr lang="el-GR" dirty="0"/>
              <a:t>φ</a:t>
            </a:r>
            <a:r>
              <a:rPr lang="en-IN" dirty="0"/>
              <a:t>ᵣ| = </a:t>
            </a:r>
            <a:r>
              <a:rPr lang="el-GR" dirty="0"/>
              <a:t>π/2 </a:t>
            </a:r>
            <a:r>
              <a:rPr lang="en-IN" dirty="0"/>
              <a:t>or 3</a:t>
            </a:r>
            <a:r>
              <a:rPr lang="el-GR" dirty="0"/>
              <a:t>π/2</a:t>
            </a:r>
            <a:endParaRPr lang="en-IN" dirty="0"/>
          </a:p>
          <a:p>
            <a:r>
              <a:rPr lang="en-IN" dirty="0"/>
              <a:t>This makes STAR-RIS design a non-convex optimization problem</a:t>
            </a:r>
          </a:p>
          <a:p>
            <a:r>
              <a:rPr lang="en-IN" dirty="0"/>
              <a:t>Need to jointly optimize:</a:t>
            </a:r>
          </a:p>
          <a:p>
            <a:pPr lvl="1"/>
            <a:r>
              <a:rPr lang="en-IN" dirty="0"/>
              <a:t>BS beamforming (W)</a:t>
            </a:r>
          </a:p>
          <a:p>
            <a:pPr lvl="1"/>
            <a:r>
              <a:rPr lang="en-IN" dirty="0"/>
              <a:t>STAR-RIS transmission coefficients (</a:t>
            </a:r>
            <a:r>
              <a:rPr lang="el-GR" dirty="0"/>
              <a:t>θ</a:t>
            </a:r>
            <a:r>
              <a:rPr lang="en-IN" dirty="0"/>
              <a:t>ₜ)</a:t>
            </a:r>
          </a:p>
          <a:p>
            <a:pPr lvl="1"/>
            <a:r>
              <a:rPr lang="en-IN" dirty="0"/>
              <a:t>STAR-RIS reflection coefficients (</a:t>
            </a:r>
            <a:r>
              <a:rPr lang="el-GR" dirty="0"/>
              <a:t>θ</a:t>
            </a:r>
            <a:r>
              <a:rPr lang="en-IN" dirty="0"/>
              <a:t>ᵣ)</a:t>
            </a:r>
          </a:p>
        </p:txBody>
      </p:sp>
    </p:spTree>
    <p:extLst>
      <p:ext uri="{BB962C8B-B14F-4D97-AF65-F5344CB8AC3E}">
        <p14:creationId xmlns:p14="http://schemas.microsoft.com/office/powerpoint/2010/main" val="389432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54E6-8C68-9722-DECF-3D4A427C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General Optimization Framework for STAR-RIS (PDD + BCD)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A365-55D3-4691-4967-723985973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Original problem has non-convex constraints due to coupling.</a:t>
            </a:r>
          </a:p>
          <a:p>
            <a:r>
              <a:rPr lang="en-IN" dirty="0"/>
              <a:t>Convert to Augmented </a:t>
            </a:r>
            <a:r>
              <a:rPr lang="en-IN" dirty="0" err="1"/>
              <a:t>Lagrangian</a:t>
            </a:r>
            <a:r>
              <a:rPr lang="en-IN" dirty="0"/>
              <a:t> form.</a:t>
            </a:r>
          </a:p>
          <a:p>
            <a:r>
              <a:rPr lang="en-IN" dirty="0"/>
              <a:t>Apply alternating updates: </a:t>
            </a:r>
          </a:p>
          <a:p>
            <a:pPr lvl="1"/>
            <a:r>
              <a:rPr lang="en-IN" dirty="0"/>
              <a:t>Update beamforming + phases + amplitudes</a:t>
            </a:r>
          </a:p>
          <a:p>
            <a:pPr lvl="1"/>
            <a:r>
              <a:rPr lang="en-IN" dirty="0"/>
              <a:t>Update auxiliary variables</a:t>
            </a:r>
          </a:p>
          <a:p>
            <a:pPr lvl="1"/>
            <a:r>
              <a:rPr lang="en-IN" dirty="0"/>
              <a:t>Update penalty and Lagrange multipliers</a:t>
            </a:r>
          </a:p>
          <a:p>
            <a:r>
              <a:rPr lang="en-IN" dirty="0"/>
              <a:t>PDD introduces:</a:t>
            </a:r>
          </a:p>
          <a:p>
            <a:pPr lvl="1"/>
            <a:r>
              <a:rPr lang="el-GR" dirty="0"/>
              <a:t>θ̃</a:t>
            </a:r>
            <a:r>
              <a:rPr lang="en-IN" dirty="0"/>
              <a:t>ₜ, </a:t>
            </a:r>
            <a:r>
              <a:rPr lang="el-GR" dirty="0"/>
              <a:t>θ̃</a:t>
            </a:r>
            <a:r>
              <a:rPr lang="en-IN" dirty="0"/>
              <a:t>ᵣ : auxiliary variables (decouple constraints)</a:t>
            </a:r>
          </a:p>
          <a:p>
            <a:pPr lvl="1"/>
            <a:r>
              <a:rPr lang="el-GR" dirty="0"/>
              <a:t>λ</a:t>
            </a:r>
            <a:r>
              <a:rPr lang="en-IN" dirty="0"/>
              <a:t>ₜ, </a:t>
            </a:r>
            <a:r>
              <a:rPr lang="el-GR" dirty="0"/>
              <a:t>λ</a:t>
            </a:r>
            <a:r>
              <a:rPr lang="en-IN" dirty="0"/>
              <a:t>ᵣ : Lagrange multipliers (dual variables)</a:t>
            </a:r>
          </a:p>
          <a:p>
            <a:pPr lvl="1"/>
            <a:r>
              <a:rPr lang="el-GR" dirty="0"/>
              <a:t>ρ : </a:t>
            </a:r>
            <a:r>
              <a:rPr lang="en-IN" dirty="0"/>
              <a:t>penalty factor (controls constraint enforcement)</a:t>
            </a:r>
          </a:p>
          <a:p>
            <a:r>
              <a:rPr lang="en-IN" dirty="0"/>
              <a:t>Proved to converge to KKT optimal solution under mild conditions.</a:t>
            </a:r>
          </a:p>
          <a:p>
            <a:pPr lvl="1"/>
            <a:r>
              <a:rPr lang="en-IN" sz="2000" dirty="0"/>
              <a:t>(</a:t>
            </a:r>
            <a:r>
              <a:rPr lang="en-US" sz="2000" dirty="0"/>
              <a:t>KKT optimal solution -&gt; mathematically guaranteed best feasible solution for non-convex problems.)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1765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C7F0-1976-0A1A-349E-31BE5E31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Throughput Maximization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C342-8926-B865-8AEC-AEBA4CA7E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Objective:	</a:t>
            </a:r>
          </a:p>
          <a:p>
            <a:r>
              <a:rPr lang="en-IN" dirty="0"/>
              <a:t>​Constraints:</a:t>
            </a:r>
          </a:p>
          <a:p>
            <a:pPr lvl="1"/>
            <a:r>
              <a:rPr lang="en-IN" dirty="0"/>
              <a:t>BS transmit power</a:t>
            </a:r>
          </a:p>
          <a:p>
            <a:pPr lvl="1"/>
            <a:r>
              <a:rPr lang="en-IN" dirty="0"/>
              <a:t>STAR-RIS amplitude coupling: </a:t>
            </a:r>
            <a:r>
              <a:rPr lang="el-GR" dirty="0"/>
              <a:t>β</a:t>
            </a:r>
            <a:r>
              <a:rPr lang="en-IN" dirty="0"/>
              <a:t>ₜ,n² + </a:t>
            </a:r>
            <a:r>
              <a:rPr lang="el-GR" dirty="0"/>
              <a:t>β</a:t>
            </a:r>
            <a:r>
              <a:rPr lang="en-IN" dirty="0"/>
              <a:t>ᵣ,n² = 1</a:t>
            </a:r>
          </a:p>
          <a:p>
            <a:pPr lvl="1"/>
            <a:r>
              <a:rPr lang="en-IN" dirty="0"/>
              <a:t>STAR-RIS phase coupling:         cos(</a:t>
            </a:r>
            <a:r>
              <a:rPr lang="el-GR" dirty="0"/>
              <a:t>φ</a:t>
            </a:r>
            <a:r>
              <a:rPr lang="en-IN" dirty="0"/>
              <a:t>ₜ,n − </a:t>
            </a:r>
            <a:r>
              <a:rPr lang="el-GR" dirty="0"/>
              <a:t>φ</a:t>
            </a:r>
            <a:r>
              <a:rPr lang="en-IN" dirty="0"/>
              <a:t>ᵣ,n) = 0</a:t>
            </a:r>
          </a:p>
          <a:p>
            <a:r>
              <a:rPr lang="en-IN" dirty="0"/>
              <a:t>Solved using:</a:t>
            </a:r>
          </a:p>
          <a:p>
            <a:pPr lvl="1"/>
            <a:r>
              <a:rPr lang="en-IN" dirty="0"/>
              <a:t>WMMSE transformation → block-wise convex</a:t>
            </a:r>
          </a:p>
          <a:p>
            <a:pPr lvl="1"/>
            <a:r>
              <a:rPr lang="en-IN" dirty="0"/>
              <a:t>PDD (</a:t>
            </a:r>
            <a:r>
              <a:rPr lang="en-US" dirty="0"/>
              <a:t>Penalty Dual Decomposition)</a:t>
            </a:r>
            <a:r>
              <a:rPr lang="en-IN" dirty="0"/>
              <a:t> → handles equality constraints</a:t>
            </a:r>
          </a:p>
          <a:p>
            <a:pPr lvl="1"/>
            <a:r>
              <a:rPr lang="en-IN" dirty="0"/>
              <a:t>BCD (</a:t>
            </a:r>
            <a:r>
              <a:rPr lang="en-US" dirty="0"/>
              <a:t>Block Coordinate Descent)</a:t>
            </a:r>
            <a:r>
              <a:rPr lang="en-IN" dirty="0"/>
              <a:t> → solves each block efficiently</a:t>
            </a:r>
          </a:p>
        </p:txBody>
      </p:sp>
      <p:pic>
        <p:nvPicPr>
          <p:cNvPr id="6" name="Picture 5" descr="A black and white symbols&#10;&#10;AI-generated content may be incorrect.">
            <a:extLst>
              <a:ext uri="{FF2B5EF4-FFF2-40B4-BE49-F238E27FC236}">
                <a16:creationId xmlns:a16="http://schemas.microsoft.com/office/drawing/2014/main" id="{3955C07B-3828-05D8-3652-C26B78BD7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026" y="1690688"/>
            <a:ext cx="173379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31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CB4A-F4E1-71BD-923D-36FD8660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Combined Workflow: PARAFAC + PDD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B67E-9BD4-8B20-B063-A9FAF101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Step 1: Use PARAFAC to estimate (G, Hr, </a:t>
            </a:r>
            <a:r>
              <a:rPr lang="en-IN" dirty="0" err="1"/>
              <a:t>Ht</a:t>
            </a:r>
            <a:r>
              <a:rPr lang="en-IN" dirty="0"/>
              <a:t>)</a:t>
            </a:r>
          </a:p>
          <a:p>
            <a:r>
              <a:rPr lang="en-IN" dirty="0"/>
              <a:t>Step 2: Convert PARAFAC outputs into PDD-compatible format</a:t>
            </a:r>
          </a:p>
          <a:p>
            <a:pPr lvl="1"/>
            <a:r>
              <a:rPr lang="en-IN" dirty="0" err="1"/>
              <a:t>G_pdd</a:t>
            </a:r>
            <a:r>
              <a:rPr lang="en-IN" dirty="0"/>
              <a:t> = Gᵀ</a:t>
            </a:r>
          </a:p>
          <a:p>
            <a:pPr lvl="1"/>
            <a:r>
              <a:rPr lang="en-IN" dirty="0" err="1"/>
              <a:t>h_pdd</a:t>
            </a:r>
            <a:r>
              <a:rPr lang="en-IN" dirty="0"/>
              <a:t> = [</a:t>
            </a:r>
            <a:r>
              <a:rPr lang="en-IN" dirty="0" err="1"/>
              <a:t>Hr_final</a:t>
            </a:r>
            <a:r>
              <a:rPr lang="en-IN" dirty="0"/>
              <a:t>, </a:t>
            </a:r>
            <a:r>
              <a:rPr lang="en-IN" dirty="0" err="1"/>
              <a:t>Ht_final</a:t>
            </a:r>
            <a:r>
              <a:rPr lang="en-IN" dirty="0"/>
              <a:t>]</a:t>
            </a:r>
          </a:p>
          <a:p>
            <a:r>
              <a:rPr lang="en-IN" dirty="0"/>
              <a:t>Step 3: Initialize PDD using </a:t>
            </a:r>
            <a:r>
              <a:rPr lang="en-IN" dirty="0" err="1"/>
              <a:t>para_init</a:t>
            </a:r>
            <a:r>
              <a:rPr lang="en-IN" dirty="0"/>
              <a:t>()</a:t>
            </a:r>
          </a:p>
          <a:p>
            <a:r>
              <a:rPr lang="en-IN" dirty="0"/>
              <a:t>Step 4: Solve: </a:t>
            </a:r>
          </a:p>
          <a:p>
            <a:pPr lvl="1"/>
            <a:r>
              <a:rPr lang="en-IN" dirty="0"/>
              <a:t>BS beamforming vector W</a:t>
            </a:r>
          </a:p>
          <a:p>
            <a:pPr lvl="1"/>
            <a:r>
              <a:rPr lang="en-IN" dirty="0"/>
              <a:t>STAR-RIS amplitudes </a:t>
            </a:r>
            <a:r>
              <a:rPr lang="el-GR" dirty="0"/>
              <a:t>β</a:t>
            </a:r>
            <a:r>
              <a:rPr lang="en-IN" dirty="0"/>
              <a:t>ₜ, </a:t>
            </a:r>
            <a:r>
              <a:rPr lang="el-GR" dirty="0"/>
              <a:t>β</a:t>
            </a:r>
            <a:r>
              <a:rPr lang="en-IN" dirty="0"/>
              <a:t>ᵣ</a:t>
            </a:r>
          </a:p>
          <a:p>
            <a:pPr lvl="1"/>
            <a:r>
              <a:rPr lang="en-IN" dirty="0"/>
              <a:t>STAR-RIS phases </a:t>
            </a:r>
            <a:r>
              <a:rPr lang="el-GR" dirty="0"/>
              <a:t>φ</a:t>
            </a:r>
            <a:r>
              <a:rPr lang="en-IN" dirty="0"/>
              <a:t>ₜ, </a:t>
            </a:r>
            <a:r>
              <a:rPr lang="el-GR" dirty="0"/>
              <a:t>φ</a:t>
            </a:r>
            <a:r>
              <a:rPr lang="en-IN" dirty="0"/>
              <a:t>ᵣ</a:t>
            </a:r>
          </a:p>
          <a:p>
            <a:r>
              <a:rPr lang="en-IN" dirty="0"/>
              <a:t>Step 5: Obtain:</a:t>
            </a:r>
          </a:p>
          <a:p>
            <a:pPr lvl="1"/>
            <a:r>
              <a:rPr lang="en-IN" dirty="0"/>
              <a:t>Optimal W</a:t>
            </a:r>
          </a:p>
          <a:p>
            <a:pPr lvl="1"/>
            <a:r>
              <a:rPr lang="en-IN" dirty="0"/>
              <a:t>Optimal </a:t>
            </a:r>
            <a:r>
              <a:rPr lang="el-GR" dirty="0"/>
              <a:t>θ</a:t>
            </a:r>
            <a:r>
              <a:rPr lang="en-IN" dirty="0"/>
              <a:t>ₜ, </a:t>
            </a:r>
            <a:r>
              <a:rPr lang="el-GR" dirty="0"/>
              <a:t>θ</a:t>
            </a:r>
            <a:r>
              <a:rPr lang="en-IN" dirty="0"/>
              <a:t>ᵣ</a:t>
            </a:r>
          </a:p>
          <a:p>
            <a:pPr lvl="1"/>
            <a:r>
              <a:rPr lang="en-IN" dirty="0"/>
              <a:t>Convergence curves</a:t>
            </a:r>
          </a:p>
          <a:p>
            <a:pPr lvl="1"/>
            <a:r>
              <a:rPr lang="en-IN" dirty="0"/>
              <a:t>Final sum rate</a:t>
            </a:r>
          </a:p>
        </p:txBody>
      </p:sp>
    </p:spTree>
    <p:extLst>
      <p:ext uri="{BB962C8B-B14F-4D97-AF65-F5344CB8AC3E}">
        <p14:creationId xmlns:p14="http://schemas.microsoft.com/office/powerpoint/2010/main" val="254714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F07E-AEEA-5995-9EFC-1222F503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PDD Optimization Results: SNR = 20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4C59-8D3B-4C65-BF35-5310B875E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76" y="4817806"/>
            <a:ext cx="10516324" cy="135915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PDD algorithm steadily increases the sum-rate and converges near 77bit/s/Hz.</a:t>
            </a:r>
          </a:p>
          <a:p>
            <a:r>
              <a:rPr lang="en-US" dirty="0"/>
              <a:t>Small dip around iteration ~18 occurs due to penalty-factor update in PDD.</a:t>
            </a:r>
          </a:p>
          <a:p>
            <a:r>
              <a:rPr lang="en-US" dirty="0"/>
              <a:t>Phase difference curves stabilize, confirming STAR-RIS coupling constraints are satisfied.</a:t>
            </a:r>
          </a:p>
          <a:p>
            <a:r>
              <a:rPr lang="en-US" dirty="0"/>
              <a:t>Shows that PARAFAC-estimated channels are successfully used for sum-rate maximization.</a:t>
            </a:r>
          </a:p>
          <a:p>
            <a:endParaRPr lang="en-IN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6697814-8787-1163-6E8E-345EEE63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76" y="1690688"/>
            <a:ext cx="10516324" cy="299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34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90C8-C3BC-CE0D-4DAA-760F2D7C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Final Observations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1BFA-A347-9B91-9405-24896510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PARAFAC-Based Channel Estimation</a:t>
            </a:r>
          </a:p>
          <a:p>
            <a:pPr lvl="1"/>
            <a:r>
              <a:rPr lang="en-IN" dirty="0"/>
              <a:t>Successfully estimates all three channels (G, Hr, </a:t>
            </a:r>
            <a:r>
              <a:rPr lang="en-IN" dirty="0" err="1"/>
              <a:t>Ht</a:t>
            </a:r>
            <a:r>
              <a:rPr lang="en-IN" dirty="0"/>
              <a:t>) using short pilots.</a:t>
            </a:r>
          </a:p>
          <a:p>
            <a:pPr lvl="1"/>
            <a:r>
              <a:rPr lang="en-IN" dirty="0"/>
              <a:t>Achieves low NMSE, close to oracle LS performance.</a:t>
            </a:r>
          </a:p>
          <a:p>
            <a:pPr lvl="1"/>
            <a:r>
              <a:rPr lang="en-IN" dirty="0"/>
              <a:t>Exploits the tensor structure created by STAR-RIS phase switching.</a:t>
            </a:r>
          </a:p>
          <a:p>
            <a:r>
              <a:rPr lang="en-IN" dirty="0"/>
              <a:t>PDD + BCD Sum-Rate Optimization</a:t>
            </a:r>
          </a:p>
          <a:p>
            <a:pPr lvl="1"/>
            <a:r>
              <a:rPr lang="en-IN" dirty="0"/>
              <a:t>Rapid convergence to ~80 bit/s/Hz at SNR = 20 </a:t>
            </a:r>
            <a:r>
              <a:rPr lang="en-IN" dirty="0" err="1"/>
              <a:t>dB.</a:t>
            </a:r>
            <a:endParaRPr lang="en-IN" dirty="0"/>
          </a:p>
          <a:p>
            <a:pPr lvl="1"/>
            <a:r>
              <a:rPr lang="en-IN" dirty="0"/>
              <a:t>Handles coupled transmission–reflection constraints of STAR-RIS.</a:t>
            </a:r>
          </a:p>
          <a:p>
            <a:pPr lvl="1"/>
            <a:r>
              <a:rPr lang="en-IN" dirty="0"/>
              <a:t>Beamforming matrix W, amplitudes </a:t>
            </a:r>
            <a:r>
              <a:rPr lang="el-GR" dirty="0"/>
              <a:t>β</a:t>
            </a:r>
            <a:r>
              <a:rPr lang="en-IN" dirty="0"/>
              <a:t>ₜ/</a:t>
            </a:r>
            <a:r>
              <a:rPr lang="el-GR" dirty="0"/>
              <a:t>β</a:t>
            </a:r>
            <a:r>
              <a:rPr lang="en-IN" dirty="0"/>
              <a:t>ᵣ, and phases </a:t>
            </a:r>
            <a:r>
              <a:rPr lang="el-GR" dirty="0"/>
              <a:t>θ</a:t>
            </a:r>
            <a:r>
              <a:rPr lang="en-IN" dirty="0"/>
              <a:t>ₜ/</a:t>
            </a:r>
            <a:r>
              <a:rPr lang="el-GR" dirty="0"/>
              <a:t>θ</a:t>
            </a:r>
            <a:r>
              <a:rPr lang="en-IN" dirty="0"/>
              <a:t>ᵣ all converge smoothly.</a:t>
            </a:r>
          </a:p>
          <a:p>
            <a:r>
              <a:rPr lang="en-IN" dirty="0"/>
              <a:t>Overall Workflow Achieved</a:t>
            </a:r>
          </a:p>
          <a:p>
            <a:pPr lvl="1"/>
            <a:r>
              <a:rPr lang="en-IN" dirty="0"/>
              <a:t>Channel Estimation (PARAFAC) → Channel Optimization (PDD) → Max Sum-Rate</a:t>
            </a:r>
          </a:p>
          <a:p>
            <a:pPr lvl="1"/>
            <a:r>
              <a:rPr lang="en-IN" dirty="0"/>
              <a:t>Shows compatibility between the two papers and correctness of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48425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904B-07A7-9133-E579-B366CE15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E327F-F211-BDB7-9B04-CB2589034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M. Di Renzo </a:t>
            </a:r>
            <a:r>
              <a:rPr lang="en-IN" i="1" dirty="0"/>
              <a:t>et al.</a:t>
            </a:r>
            <a:r>
              <a:rPr lang="en-IN" dirty="0"/>
              <a:t>, “Reconfigurable Intelligent Surfaces: Fundamentals, Solutions, and Opportunities,” </a:t>
            </a:r>
            <a:r>
              <a:rPr lang="en-IN" i="1" dirty="0" err="1"/>
              <a:t>arXiv</a:t>
            </a:r>
            <a:r>
              <a:rPr lang="en-IN" dirty="0"/>
              <a:t>, 2020.</a:t>
            </a:r>
          </a:p>
          <a:p>
            <a:r>
              <a:rPr lang="en-IN" dirty="0"/>
              <a:t>Z. Wan, Z. Gao, F. Gao, M. D. Renzo, and M. </a:t>
            </a:r>
            <a:r>
              <a:rPr lang="en-IN" dirty="0" err="1"/>
              <a:t>Alouini</a:t>
            </a:r>
            <a:r>
              <a:rPr lang="en-IN" dirty="0"/>
              <a:t>, “Channel Estimation for RIS-Assisted Wireless Communications: Part I — Fundamentals, Solutions, and Future Opportunities,” </a:t>
            </a:r>
            <a:r>
              <a:rPr lang="en-IN" i="1" dirty="0"/>
              <a:t>IEEE Communications Letters</a:t>
            </a:r>
            <a:r>
              <a:rPr lang="en-IN" dirty="0"/>
              <a:t>, 2021.</a:t>
            </a:r>
          </a:p>
          <a:p>
            <a:r>
              <a:rPr lang="en-IN" dirty="0"/>
              <a:t>H. Zhang </a:t>
            </a:r>
            <a:r>
              <a:rPr lang="en-IN" i="1" dirty="0"/>
              <a:t>et al.</a:t>
            </a:r>
            <a:r>
              <a:rPr lang="en-IN" dirty="0"/>
              <a:t>, “Channel Estimation for STAR-RIS Assisted Multi-User Communications,” </a:t>
            </a:r>
            <a:r>
              <a:rPr lang="en-IN" i="1" dirty="0"/>
              <a:t>IEEE Transactions on Wireless Communications</a:t>
            </a:r>
            <a:r>
              <a:rPr lang="en-IN" dirty="0"/>
              <a:t>, 2022.</a:t>
            </a:r>
          </a:p>
          <a:p>
            <a:r>
              <a:rPr lang="en-IN" dirty="0"/>
              <a:t>A. Pal, V. </a:t>
            </a:r>
            <a:r>
              <a:rPr lang="en-IN" dirty="0" err="1"/>
              <a:t>Yajnanarayana</a:t>
            </a:r>
            <a:r>
              <a:rPr lang="en-IN" dirty="0"/>
              <a:t>, and K. V. S. Hari, “Power Allocation for STAR-RIS Assisted C-V2X Systems with Discrete Phase Shifts,” </a:t>
            </a:r>
            <a:r>
              <a:rPr lang="en-IN" i="1" dirty="0"/>
              <a:t>IEEE VTC</a:t>
            </a:r>
            <a:r>
              <a:rPr lang="en-IN" dirty="0"/>
              <a:t>, 2023.</a:t>
            </a:r>
          </a:p>
          <a:p>
            <a:r>
              <a:rPr lang="en-IN" dirty="0"/>
              <a:t>T. Hou, Y. Liu, Z. Song, X. Sun, and Y. Chen, “Coupled Phase-Shift STAR-RISs: A General Optimization Framework,” </a:t>
            </a:r>
            <a:r>
              <a:rPr lang="en-IN" i="1" dirty="0"/>
              <a:t>IEEE Transactions on Wireless Communications</a:t>
            </a:r>
            <a:r>
              <a:rPr lang="en-IN" dirty="0"/>
              <a:t>, 2023.</a:t>
            </a:r>
          </a:p>
        </p:txBody>
      </p:sp>
    </p:spTree>
    <p:extLst>
      <p:ext uri="{BB962C8B-B14F-4D97-AF65-F5344CB8AC3E}">
        <p14:creationId xmlns:p14="http://schemas.microsoft.com/office/powerpoint/2010/main" val="264755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2737</TotalTime>
  <Words>1860</Words>
  <Application>Microsoft Office PowerPoint</Application>
  <PresentationFormat>Widescreen</PresentationFormat>
  <Paragraphs>185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Channel Estimation using PARAFAC and Sum-Rate Maximization for STAR-RIS</vt:lpstr>
      <vt:lpstr>PowerPoint Presentation</vt:lpstr>
      <vt:lpstr>What is RIS?</vt:lpstr>
      <vt:lpstr>What is STAR-RIS?</vt:lpstr>
      <vt:lpstr>System Model for STAR-RIS Assisted mmWave Communication</vt:lpstr>
      <vt:lpstr>Transmission and Reflection Coefficients</vt:lpstr>
      <vt:lpstr>Saleh–Valenzuela mmWave Channel Model</vt:lpstr>
      <vt:lpstr>Received Signal Model (Pilots + STAR-RIS Phases)</vt:lpstr>
      <vt:lpstr>Why PARAFAC?</vt:lpstr>
      <vt:lpstr>PARAFAC Tensor Model</vt:lpstr>
      <vt:lpstr>PARAFAC Algorithm (ALS Updates)</vt:lpstr>
      <vt:lpstr>PARAFAC Simulation Setup</vt:lpstr>
      <vt:lpstr>PARAFAC Channel Estimation Results (NMSE vs SNR)</vt:lpstr>
      <vt:lpstr>Why Optimization After PARAFAC?</vt:lpstr>
      <vt:lpstr>General Optimization Framework for STAR-RIS (PDD + BCD)</vt:lpstr>
      <vt:lpstr>Throughput Maximization Problem</vt:lpstr>
      <vt:lpstr>Combined Workflow: PARAFAC + PDD</vt:lpstr>
      <vt:lpstr>PDD Optimization Results: SNR = 20 dB</vt:lpstr>
      <vt:lpstr>Final Observations &amp; Key Takeaways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Kusumanchi</dc:creator>
  <cp:lastModifiedBy>Vinay Kusumanchi</cp:lastModifiedBy>
  <cp:revision>1</cp:revision>
  <dcterms:created xsi:type="dcterms:W3CDTF">2025-12-10T16:09:49Z</dcterms:created>
  <dcterms:modified xsi:type="dcterms:W3CDTF">2026-01-07T08:11:52Z</dcterms:modified>
</cp:coreProperties>
</file>